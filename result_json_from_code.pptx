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64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92688-D57E-44A0-947C-816B3A201077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3D731-75FC-4918-AF44-078B267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6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125F-3DD5-5C01-45E1-429BB869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B7804-57CE-043A-3681-FD482272A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8B771-5F77-FD8D-F444-8DE860E8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25F9-BFCB-AAB0-6619-7B53D00DA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27617">
              <a:defRPr/>
            </a:pPr>
            <a:fld id="{5A57A88C-D68B-7E43-B6BD-8EAA3060908E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1327617">
                <a:defRPr/>
              </a:pPr>
              <a:t>1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399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8166-E1D3-4AD6-441C-90E7B3C27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709A-4CFB-FBA5-018F-67D262CA3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98FD7-567C-4390-7EC5-99472EEE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A160-A2A0-767B-7999-1BFDA393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3754-FC5A-0AED-44EB-A16EB16B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1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2B32-27F9-A1E8-DDF3-122DF0B8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35C0-9394-918F-718F-54026FE1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0332F-1733-DB5C-0A69-43669B71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AC22-0B56-4185-C2F2-963F5291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6A36-E9D8-2C0D-4E08-3DBF2C6B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24C5-E25E-91FC-ADCB-6A6F956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61E4-0A0A-1F58-CE8E-83FA9DE50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66FE-A696-F63E-2448-D80E8F4B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EF0D-4097-A408-444C-66B38DFD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F675-7CBB-81CC-1626-E3212F89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7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BFFE-72EA-0F42-7629-41A3A805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60A3-23A9-8FBC-C9CE-83C1FB20E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ACC57-D446-9A70-E932-8CD75CBC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535A-765A-8D4C-F046-BCD5989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2B493-1C38-0BC0-0B5C-22B8313A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61E0-A5D8-BFC2-2B19-1A990E0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8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4513-AE31-353A-0556-D915BC8C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1D48C-0CF7-B16C-EA55-E04E1D97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8ABFE-FB71-9B67-1144-83598022B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F3D7D-063F-E4FB-E7EA-01C3CF6B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EFC9D-6783-A930-5856-D5DA34659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4A85A-2622-DF0E-7848-CBB5495F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A3EDB-115C-6A42-1E24-CE27E4C8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A4EE6-991D-57CA-1811-EA75359A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696E-19A3-42D4-CE90-F3B1B13A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16288-F33E-B003-99D8-938F7CE3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F0B0-2DD1-B9EE-028D-86B408E7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4A526-F8D3-6BA3-AB69-2AD0DFBC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4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F6A0D-B7C6-6D1B-7CD1-DD39BAAC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8BFFB-2586-00D9-C856-E66D38D5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98C34-42EE-D783-EF72-A3913182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5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7A72-090D-084C-351B-ED4C8732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C07A-930E-D84F-3E5C-F5BB67FA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2B1ED-1209-84DD-DEDC-7FB8C8D4E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2DC7E-DA3A-0ED9-265B-AB02C553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9B2EE-49C4-10ED-33C9-085A34BE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CC5D7-0E27-7098-5CB3-44202BC4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4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40D4-5D24-33E5-9259-A8F27B18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08544-246D-DCB2-5A7B-3C3F2DB5E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FCA4-BB73-F3A6-14F2-6B660498D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077CF-4DCE-F38C-953C-2ACBACAC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E8D86-4F70-54E2-AB49-D9095545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2A362-D090-E5BC-6731-8226FC9C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68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4CB1-9807-9B7C-9A97-9F588DEB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7C596-B21A-B9F2-89D9-4A85ADEFB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6D06-78ED-D051-7460-9843F245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074D-9E53-93FE-63B3-2518263E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6CBC-02BA-22A2-FD08-4F2DF155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749AC-CEEA-0088-A9EA-FB2DE4538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F6D6C-2F9D-4CA5-F6CD-5EADD2A5B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6ABD-3D01-BD5C-1436-E9ED1144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8FC40-B273-893B-E5FD-E60B3517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64500-B31B-8E94-BC09-1F9CC390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66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9A3F10-F878-A671-32E0-3C0822EE4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2227154"/>
            <a:ext cx="12192003" cy="4635933"/>
            <a:chOff x="0" y="2222067"/>
            <a:chExt cx="12192003" cy="46359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4B2B0D-5333-E732-68D4-4D9F64D679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</a:extLst>
            </a:blip>
            <a:srcRect l="7614" t="53176" r="35751"/>
            <a:stretch/>
          </p:blipFill>
          <p:spPr>
            <a:xfrm>
              <a:off x="0" y="2345011"/>
              <a:ext cx="12192000" cy="451298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F42D34-68F1-3A80-5D15-5F7CCBBBB2D0}"/>
                </a:ext>
              </a:extLst>
            </p:cNvPr>
            <p:cNvSpPr/>
            <p:nvPr/>
          </p:nvSpPr>
          <p:spPr bwMode="auto">
            <a:xfrm rot="5400000">
              <a:off x="5167730" y="-2945661"/>
              <a:ext cx="1856546" cy="12192001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957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784">
          <p15:clr>
            <a:srgbClr val="5ACBF0"/>
          </p15:clr>
        </p15:guide>
        <p15:guide id="29" orient="horz" pos="1101">
          <p15:clr>
            <a:srgbClr val="5ACBF0"/>
          </p15:clr>
        </p15:guide>
        <p15:guide id="30" orient="horz" pos="24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FE88F-698B-15A3-4BE2-21834CEC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3F968-8728-1293-7CE3-F2A9D42B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FE09-EF86-D7F6-B62C-124AB481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16936-F845-AC6F-9D07-BE0EB9E72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0A0A-52F6-BCE8-2DB7-21A5C1DC9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5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16="http://schemas.microsoft.com/office/drawing/2014/main" xmlns:adec="http://schemas.microsoft.com/office/drawing/2017/decorative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03B7-9E88-8111-E4A6-03D710B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AF3D-D37C-FB34-2B0C-BF87C5F5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826" y="253089"/>
            <a:ext cx="3800930" cy="430887"/>
          </a:xfrm>
        </p:spPr>
        <p:txBody>
          <a:bodyPr>
            <a:normAutofit fontScale="90000"/>
          </a:bodyPr>
          <a:lstStyle/>
          <a:p>
            <a:r>
              <a:rPr sz="2800" b="1"/>
              <a:t>Emerging Technology Trends: AI, Quantum, and Biotech</a:t>
            </a:r>
          </a:p>
        </p:txBody>
      </p:sp>
      <p:sp>
        <p:nvSpPr>
          <p:cNvPr id="26" name="Rounded Rectangle 56">
            <a:extLst>
              <a:ext uri="{FF2B5EF4-FFF2-40B4-BE49-F238E27FC236}">
                <a16:creationId xmlns:a16="http://schemas.microsoft.com/office/drawing/2014/main" id="{F2BB1B34-ECD2-1CF6-A205-41560BECDE89}"/>
              </a:ext>
            </a:extLst>
          </p:cNvPr>
          <p:cNvSpPr/>
          <p:nvPr/>
        </p:nvSpPr>
        <p:spPr bwMode="auto">
          <a:xfrm>
            <a:off x="43935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FF775411-8843-C5F1-5DC8-749146CF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-2022364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6" name="Rectangle: Rounded Corners 15">
            <a:hlinkClick r:id="" action="ppaction://noaction"/>
            <a:extLst>
              <a:ext uri="{FF2B5EF4-FFF2-40B4-BE49-F238E27FC236}">
                <a16:creationId xmlns:a16="http://schemas.microsoft.com/office/drawing/2014/main" id="{EDA957F3-DD28-3F1B-F74B-C217FB6C8173}"/>
              </a:ext>
            </a:extLst>
          </p:cNvPr>
          <p:cNvSpPr/>
          <p:nvPr/>
        </p:nvSpPr>
        <p:spPr>
          <a:xfrm>
            <a:off x="375892" y="266095"/>
            <a:ext cx="3447952" cy="4048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cap="rnd" cmpd="sng" algn="ctr">
            <a:gradFill>
              <a:gsLst>
                <a:gs pos="13000">
                  <a:srgbClr val="169DEE"/>
                </a:gs>
                <a:gs pos="0">
                  <a:srgbClr val="196CDB"/>
                </a:gs>
                <a:gs pos="27000">
                  <a:srgbClr val="37A69D"/>
                </a:gs>
                <a:gs pos="100000">
                  <a:srgbClr val="FF6A40"/>
                </a:gs>
                <a:gs pos="90000">
                  <a:srgbClr val="F98A6B"/>
                </a:gs>
                <a:gs pos="67207">
                  <a:srgbClr val="B254CB"/>
                </a:gs>
                <a:gs pos="81000">
                  <a:srgbClr val="DB55A4"/>
                </a:gs>
                <a:gs pos="68000">
                  <a:srgbClr val="AE4DD8"/>
                </a:gs>
                <a:gs pos="55000">
                  <a:srgbClr val="F2C708"/>
                </a:gs>
                <a:gs pos="40000">
                  <a:srgbClr val="A0BE3D"/>
                </a:gs>
              </a:gsLst>
              <a:lin ang="2700000" scaled="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sz="1400"/>
              <a:t>Tech Landscape 2026</a:t>
            </a:r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0FC6B37E-E8A8-B939-A841-D53AA5F26599}"/>
              </a:ext>
            </a:extLst>
          </p:cNvPr>
          <p:cNvSpPr txBox="1">
            <a:spLocks/>
          </p:cNvSpPr>
          <p:nvPr/>
        </p:nvSpPr>
        <p:spPr>
          <a:xfrm>
            <a:off x="638735" y="1006012"/>
            <a:ext cx="3276549" cy="33223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Artificial Intelligence &amp; Agentic AI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0155090-9C72-0CFC-DB0B-1EFCEB9D1052}"/>
              </a:ext>
            </a:extLst>
          </p:cNvPr>
          <p:cNvSpPr txBox="1"/>
          <p:nvPr/>
        </p:nvSpPr>
        <p:spPr>
          <a:xfrm>
            <a:off x="53223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sz="1200"/>
              <a:t>• Agentic AI completes complex tasks (research, coding, scheduling)</a:t>
            </a:r>
          </a:p>
          <a:p>
            <a:pPr lvl="0"/>
            <a:r>
              <a:rPr sz="1200"/>
              <a:t>• AI‑native dev: write, debug, optimize code</a:t>
            </a:r>
          </a:p>
          <a:p>
            <a:pPr lvl="0"/>
            <a:r>
              <a:rPr sz="1200"/>
              <a:t>• AI for science/medicine: drug discovery, climate models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E78F367-90CE-2845-19FA-A9DC2BC2DF4E}"/>
              </a:ext>
            </a:extLst>
          </p:cNvPr>
          <p:cNvSpPr/>
          <p:nvPr/>
        </p:nvSpPr>
        <p:spPr bwMode="auto">
          <a:xfrm>
            <a:off x="28433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1</a:t>
            </a:r>
            <a:endParaRPr lang="en-IN" sz="1200" b="1" err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39C5115-DB4C-56A4-D640-580B60768FD1}"/>
              </a:ext>
            </a:extLst>
          </p:cNvPr>
          <p:cNvSpPr txBox="1"/>
          <p:nvPr/>
        </p:nvSpPr>
        <p:spPr>
          <a:xfrm>
            <a:off x="584715" y="5242104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Status: Mainstreaming fast</a:t>
            </a:r>
          </a:p>
        </p:txBody>
      </p:sp>
      <p:sp>
        <p:nvSpPr>
          <p:cNvPr id="151" name="Rectangle: Rounded Corners 16">
            <a:extLst>
              <a:ext uri="{FF2B5EF4-FFF2-40B4-BE49-F238E27FC236}">
                <a16:creationId xmlns:a16="http://schemas.microsoft.com/office/drawing/2014/main" id="{9852EABA-C524-7872-23D1-DB662238F408}"/>
              </a:ext>
            </a:extLst>
          </p:cNvPr>
          <p:cNvSpPr/>
          <p:nvPr/>
        </p:nvSpPr>
        <p:spPr bwMode="auto">
          <a:xfrm>
            <a:off x="398751" y="6328961"/>
            <a:ext cx="11559581" cy="160160"/>
          </a:xfrm>
          <a:prstGeom prst="notchedRightArrow">
            <a:avLst>
              <a:gd name="adj1" fmla="val 23474"/>
              <a:gd name="adj2" fmla="val 97223"/>
            </a:avLst>
          </a:prstGeom>
          <a:gradFill flip="none" rotWithShape="1">
            <a:gsLst>
              <a:gs pos="75000">
                <a:srgbClr val="0078D4"/>
              </a:gs>
              <a:gs pos="50000">
                <a:srgbClr val="C03BC4"/>
              </a:gs>
              <a:gs pos="100000">
                <a:srgbClr val="14938C"/>
              </a:gs>
              <a:gs pos="25000">
                <a:srgbClr val="F4364C"/>
              </a:gs>
              <a:gs pos="0">
                <a:srgbClr val="FF5C39"/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27000" dist="63500" dir="2700000" algn="ctr" rotWithShape="0">
              <a:srgbClr val="000000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910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ln w="3175">
                <a:noFill/>
              </a:ln>
              <a:solidFill>
                <a:srgbClr val="FEFFFE"/>
              </a:solidFill>
              <a:latin typeface="Segoe UI Semibold"/>
            </a:endParaRPr>
          </a:p>
        </p:txBody>
      </p:sp>
      <p:sp>
        <p:nvSpPr>
          <p:cNvPr id="174" name="Rounded Rectangle 56">
            <a:extLst>
              <a:ext uri="{FF2B5EF4-FFF2-40B4-BE49-F238E27FC236}">
                <a16:creationId xmlns:a16="http://schemas.microsoft.com/office/drawing/2014/main" id="{C374EC93-F7B3-32E2-1B76-94F664A3AFD5}"/>
              </a:ext>
            </a:extLst>
          </p:cNvPr>
          <p:cNvSpPr/>
          <p:nvPr/>
        </p:nvSpPr>
        <p:spPr bwMode="auto">
          <a:xfrm>
            <a:off x="4383370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75" name="Freeform 27">
            <a:extLst>
              <a:ext uri="{FF2B5EF4-FFF2-40B4-BE49-F238E27FC236}">
                <a16:creationId xmlns:a16="http://schemas.microsoft.com/office/drawing/2014/main" id="{1F287248-468F-3600-9912-E4D9C0E8F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1921651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79" name="Text Placeholder 69">
            <a:extLst>
              <a:ext uri="{FF2B5EF4-FFF2-40B4-BE49-F238E27FC236}">
                <a16:creationId xmlns:a16="http://schemas.microsoft.com/office/drawing/2014/main" id="{8520B68B-3F1F-D3A3-62C1-50A433A70E5C}"/>
              </a:ext>
            </a:extLst>
          </p:cNvPr>
          <p:cNvSpPr txBox="1">
            <a:spLocks/>
          </p:cNvSpPr>
          <p:nvPr/>
        </p:nvSpPr>
        <p:spPr>
          <a:xfrm>
            <a:off x="4597400" y="985959"/>
            <a:ext cx="3318933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Quantum Computing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E0CAFB4-95A4-4CD6-1479-77764B12B191}"/>
              </a:ext>
            </a:extLst>
          </p:cNvPr>
          <p:cNvSpPr txBox="1"/>
          <p:nvPr/>
        </p:nvSpPr>
        <p:spPr>
          <a:xfrm>
            <a:off x="4476253" y="1406298"/>
            <a:ext cx="3176854" cy="8233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sz="1200"/>
              <a:t>• Hybrid quantum–classical systems entering early use</a:t>
            </a:r>
          </a:p>
          <a:p>
            <a:pPr lvl="0"/>
            <a:r>
              <a:rPr sz="1200"/>
              <a:t>• Faster processing for AI training, cryptography, molecular sims</a:t>
            </a:r>
          </a:p>
          <a:p>
            <a:pPr lvl="0"/>
            <a:r>
              <a:rPr sz="1200"/>
              <a:t>• Heavy government and corporate investment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78D1C92-C363-81BD-4154-E91809229CBD}"/>
              </a:ext>
            </a:extLst>
          </p:cNvPr>
          <p:cNvSpPr/>
          <p:nvPr/>
        </p:nvSpPr>
        <p:spPr bwMode="auto">
          <a:xfrm>
            <a:off x="4228351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</a:t>
            </a:r>
            <a:endParaRPr lang="en-IN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EB97750-DA2D-DC2C-2DF0-7B9868F3B759}"/>
              </a:ext>
            </a:extLst>
          </p:cNvPr>
          <p:cNvSpPr txBox="1"/>
          <p:nvPr/>
        </p:nvSpPr>
        <p:spPr>
          <a:xfrm>
            <a:off x="4470328" y="2381288"/>
            <a:ext cx="3485588" cy="15004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/>
              <a:t>What it is: Quantum computers use qubits to tackle problems intractable for classical machines.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E369B39-A78F-0D13-75AC-8E2B4523D589}"/>
              </a:ext>
            </a:extLst>
          </p:cNvPr>
          <p:cNvSpPr txBox="1"/>
          <p:nvPr/>
        </p:nvSpPr>
        <p:spPr>
          <a:xfrm>
            <a:off x="4470328" y="3972348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/>
              <a:t>Potential impact</a:t>
            </a:r>
          </a:p>
          <a:p>
            <a:pPr lvl="0"/>
            <a:r>
              <a:rPr sz="1200"/>
              <a:t>• Breakthroughs in drug discovery, materials, and optimization</a:t>
            </a:r>
          </a:p>
          <a:p>
            <a:pPr lvl="0"/>
            <a:r>
              <a:rPr sz="1200"/>
              <a:t>• Could crack current encryption; drives post‑quantum security</a:t>
            </a:r>
          </a:p>
          <a:p>
            <a:pPr lvl="0"/>
            <a:r>
              <a:rPr sz="1200"/>
              <a:t>• Moving from labs toward real‑world apps in the mid‑2020s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1C941D2-6B9A-71AE-E0E2-092DA5428A75}"/>
              </a:ext>
            </a:extLst>
          </p:cNvPr>
          <p:cNvSpPr txBox="1"/>
          <p:nvPr/>
        </p:nvSpPr>
        <p:spPr>
          <a:xfrm>
            <a:off x="4470328" y="5201437"/>
            <a:ext cx="3485588" cy="4693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Status: Early/partial enterprise use</a:t>
            </a:r>
          </a:p>
        </p:txBody>
      </p:sp>
      <p:sp>
        <p:nvSpPr>
          <p:cNvPr id="185" name="Rounded Rectangle 56">
            <a:extLst>
              <a:ext uri="{FF2B5EF4-FFF2-40B4-BE49-F238E27FC236}">
                <a16:creationId xmlns:a16="http://schemas.microsoft.com/office/drawing/2014/main" id="{63C4213F-A18D-64B1-4799-7DBC067CEEDD}"/>
              </a:ext>
            </a:extLst>
          </p:cNvPr>
          <p:cNvSpPr/>
          <p:nvPr/>
        </p:nvSpPr>
        <p:spPr bwMode="auto">
          <a:xfrm>
            <a:off x="832738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86" name="Freeform 27">
            <a:extLst>
              <a:ext uri="{FF2B5EF4-FFF2-40B4-BE49-F238E27FC236}">
                <a16:creationId xmlns:a16="http://schemas.microsoft.com/office/drawing/2014/main" id="{B960CC8C-5C59-5930-AE65-B141E40A6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5865666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90" name="Text Placeholder 69">
            <a:extLst>
              <a:ext uri="{FF2B5EF4-FFF2-40B4-BE49-F238E27FC236}">
                <a16:creationId xmlns:a16="http://schemas.microsoft.com/office/drawing/2014/main" id="{AFA17592-A1B5-1EB9-0E90-AFE80226C001}"/>
              </a:ext>
            </a:extLst>
          </p:cNvPr>
          <p:cNvSpPr txBox="1">
            <a:spLocks/>
          </p:cNvSpPr>
          <p:nvPr/>
        </p:nvSpPr>
        <p:spPr>
          <a:xfrm>
            <a:off x="8551171" y="985959"/>
            <a:ext cx="3277259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Biotechnology &amp; Genetic Engineering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61661F1-ABF3-228C-3DA8-5BB00EB62DB9}"/>
              </a:ext>
            </a:extLst>
          </p:cNvPr>
          <p:cNvSpPr txBox="1"/>
          <p:nvPr/>
        </p:nvSpPr>
        <p:spPr>
          <a:xfrm>
            <a:off x="842026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sz="1200"/>
              <a:t>• CRISPR editing and advanced DNA sequencing</a:t>
            </a:r>
          </a:p>
          <a:p>
            <a:pPr lvl="0"/>
            <a:r>
              <a:rPr sz="1200"/>
              <a:t>• Synthetic biology for new medicines and biomaterials</a:t>
            </a:r>
          </a:p>
          <a:p>
            <a:pPr lvl="0"/>
            <a:r>
              <a:rPr sz="1200"/>
              <a:t>• AI‑driven discovery and personalized medicine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674D4D4-AA0A-4BB4-2143-D70EC0E71310}"/>
              </a:ext>
            </a:extLst>
          </p:cNvPr>
          <p:cNvSpPr/>
          <p:nvPr/>
        </p:nvSpPr>
        <p:spPr bwMode="auto">
          <a:xfrm>
            <a:off x="817236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  <a:endParaRPr lang="en-IN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C102294-BCB1-47CE-2253-E283557FEFD0}"/>
              </a:ext>
            </a:extLst>
          </p:cNvPr>
          <p:cNvSpPr txBox="1"/>
          <p:nvPr/>
        </p:nvSpPr>
        <p:spPr>
          <a:xfrm>
            <a:off x="8421270" y="2425797"/>
            <a:ext cx="3537062" cy="16696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/>
              <a:t>Biotech is rapidly advancing with tools to modify and engineer living systems, enabling targeted therapies and new biological products.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E530A0A-3535-DD7A-5BE8-19D01F792280}"/>
              </a:ext>
            </a:extLst>
          </p:cNvPr>
          <p:cNvSpPr txBox="1"/>
          <p:nvPr/>
        </p:nvSpPr>
        <p:spPr>
          <a:xfrm>
            <a:off x="8414344" y="4123480"/>
            <a:ext cx="3537061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/>
              <a:t>Impact</a:t>
            </a:r>
          </a:p>
          <a:p>
            <a:pPr lvl="0"/>
            <a:r>
              <a:rPr sz="1200"/>
              <a:t>• Faster vaccines and treatments</a:t>
            </a:r>
          </a:p>
          <a:p>
            <a:pPr lvl="0"/>
            <a:r>
              <a:rPr sz="1200"/>
              <a:t>• Potential cures for genetic diseases</a:t>
            </a:r>
          </a:p>
          <a:p>
            <a:pPr lvl="0"/>
            <a:r>
              <a:rPr sz="1200"/>
              <a:t>• Personalized care based on individual DNA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7DBE3B-3A4E-0AF2-1F57-23C6CE0EB852}"/>
              </a:ext>
            </a:extLst>
          </p:cNvPr>
          <p:cNvSpPr txBox="1"/>
          <p:nvPr/>
        </p:nvSpPr>
        <p:spPr>
          <a:xfrm>
            <a:off x="8414343" y="5161972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Status: Rapid progress; strong clinical/regulatory focus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57DC01-05BC-E315-3552-5CEC303D5F29}"/>
              </a:ext>
            </a:extLst>
          </p:cNvPr>
          <p:cNvSpPr txBox="1"/>
          <p:nvPr/>
        </p:nvSpPr>
        <p:spPr>
          <a:xfrm>
            <a:off x="5297152" y="6087606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en-US"/>
              <a:t>Scenario Complexity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2618040-7B37-5EFD-D92E-8B005B76FB69}"/>
              </a:ext>
            </a:extLst>
          </p:cNvPr>
          <p:cNvSpPr txBox="1"/>
          <p:nvPr/>
        </p:nvSpPr>
        <p:spPr>
          <a:xfrm>
            <a:off x="5297152" y="6455254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User value delivered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3D4A32D-C83A-6713-6592-F303BBA33437}"/>
              </a:ext>
            </a:extLst>
          </p:cNvPr>
          <p:cNvSpPr txBox="1"/>
          <p:nvPr/>
        </p:nvSpPr>
        <p:spPr>
          <a:xfrm>
            <a:off x="526313" y="6067500"/>
            <a:ext cx="469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Low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B1CF7D5-983E-FB7C-9543-9D8458B3B2AD}"/>
              </a:ext>
            </a:extLst>
          </p:cNvPr>
          <p:cNvSpPr txBox="1"/>
          <p:nvPr/>
        </p:nvSpPr>
        <p:spPr>
          <a:xfrm>
            <a:off x="526313" y="6447354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Basic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0878797-5BD3-98F6-92AF-FBDC9BDABCE3}"/>
              </a:ext>
            </a:extLst>
          </p:cNvPr>
          <p:cNvSpPr txBox="1"/>
          <p:nvPr/>
        </p:nvSpPr>
        <p:spPr>
          <a:xfrm>
            <a:off x="11077956" y="6067500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>
                <a:solidFill>
                  <a:srgbClr val="00B050"/>
                </a:solidFill>
              </a:rPr>
              <a:t>High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B727388-C539-DEB3-5750-20CFE270358B}"/>
              </a:ext>
            </a:extLst>
          </p:cNvPr>
          <p:cNvSpPr txBox="1"/>
          <p:nvPr/>
        </p:nvSpPr>
        <p:spPr>
          <a:xfrm>
            <a:off x="10003623" y="6447354"/>
            <a:ext cx="1662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sz="1200" i="1">
                <a:solidFill>
                  <a:srgbClr val="00B050"/>
                </a:solidFill>
              </a:defRPr>
            </a:lvl1pPr>
          </a:lstStyle>
          <a:p>
            <a:r>
              <a:rPr lang="en-US"/>
              <a:t>Transformative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ACCB3A9-E01C-F11A-964D-637BBBF0516C}"/>
              </a:ext>
            </a:extLst>
          </p:cNvPr>
          <p:cNvSpPr txBox="1"/>
          <p:nvPr/>
        </p:nvSpPr>
        <p:spPr>
          <a:xfrm>
            <a:off x="1581663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AF9758-5DF0-59AE-6699-32AA614CEA13}"/>
              </a:ext>
            </a:extLst>
          </p:cNvPr>
          <p:cNvSpPr txBox="1"/>
          <p:nvPr/>
        </p:nvSpPr>
        <p:spPr>
          <a:xfrm>
            <a:off x="288879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CF3EC58-2AEF-FCD6-E9F3-7EDB3E6FB764}"/>
              </a:ext>
            </a:extLst>
          </p:cNvPr>
          <p:cNvSpPr txBox="1"/>
          <p:nvPr/>
        </p:nvSpPr>
        <p:spPr>
          <a:xfrm>
            <a:off x="4330894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4C65471-5BBA-E0A7-ED68-F6C6F398E460}"/>
              </a:ext>
            </a:extLst>
          </p:cNvPr>
          <p:cNvSpPr txBox="1"/>
          <p:nvPr/>
        </p:nvSpPr>
        <p:spPr>
          <a:xfrm>
            <a:off x="765310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2C17763-C234-32E2-9BCC-76707062352E}"/>
              </a:ext>
            </a:extLst>
          </p:cNvPr>
          <p:cNvSpPr txBox="1"/>
          <p:nvPr/>
        </p:nvSpPr>
        <p:spPr>
          <a:xfrm>
            <a:off x="2962372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6A614C3-7650-58A4-E9DD-8DCA8A9489A0}"/>
              </a:ext>
            </a:extLst>
          </p:cNvPr>
          <p:cNvSpPr txBox="1"/>
          <p:nvPr/>
        </p:nvSpPr>
        <p:spPr>
          <a:xfrm>
            <a:off x="426950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438D51E-B883-655F-B9B8-C6654D5C371E}"/>
              </a:ext>
            </a:extLst>
          </p:cNvPr>
          <p:cNvSpPr txBox="1"/>
          <p:nvPr/>
        </p:nvSpPr>
        <p:spPr>
          <a:xfrm>
            <a:off x="7167033" y="6494284"/>
            <a:ext cx="1490134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1726ED1-81C5-A13A-4246-68F829244961}"/>
              </a:ext>
            </a:extLst>
          </p:cNvPr>
          <p:cNvSpPr txBox="1"/>
          <p:nvPr/>
        </p:nvSpPr>
        <p:spPr>
          <a:xfrm>
            <a:off x="903381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99209-1503-FEE7-46B1-C2EE948954D0}"/>
              </a:ext>
            </a:extLst>
          </p:cNvPr>
          <p:cNvSpPr txBox="1"/>
          <p:nvPr/>
        </p:nvSpPr>
        <p:spPr>
          <a:xfrm>
            <a:off x="560949" y="2460191"/>
            <a:ext cx="3485588" cy="1331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/>
              <a:t>AI is evolving from simple tools to autonomous systems that can plan, decide, and act with minimal human input. Why it matters: automates knowledge work, boosts productivity, and drives innovation across industries.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83B5E-E4AC-5AD1-B43B-8CA2D70B1FD1}"/>
              </a:ext>
            </a:extLst>
          </p:cNvPr>
          <p:cNvSpPr txBox="1"/>
          <p:nvPr/>
        </p:nvSpPr>
        <p:spPr>
          <a:xfrm>
            <a:off x="533240" y="3853027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/>
              <a:t>Key signals</a:t>
            </a:r>
          </a:p>
          <a:p>
            <a:pPr lvl="0"/>
            <a:r>
              <a:rPr sz="1200"/>
              <a:t>• Enterprise adoption accelerating; becoming foundational tech</a:t>
            </a:r>
          </a:p>
          <a:p>
            <a:pPr lvl="0"/>
            <a:r>
              <a:rPr sz="1200"/>
              <a:t>• Expanding use in healthcare, finance, and manufacturing</a:t>
            </a:r>
          </a:p>
        </p:txBody>
      </p:sp>
    </p:spTree>
    <p:extLst>
      <p:ext uri="{BB962C8B-B14F-4D97-AF65-F5344CB8AC3E}">
        <p14:creationId xmlns:p14="http://schemas.microsoft.com/office/powerpoint/2010/main" val="110925580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467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Sans Display Semibold</vt:lpstr>
      <vt:lpstr>Segoe UI</vt:lpstr>
      <vt:lpstr>Segoe UI Semibold</vt:lpstr>
      <vt:lpstr>Office Theme</vt:lpstr>
      <vt:lpstr>Key Scenario Patterns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Khanna</dc:creator>
  <cp:lastModifiedBy>Raghav Khanna</cp:lastModifiedBy>
  <cp:revision>1</cp:revision>
  <dcterms:created xsi:type="dcterms:W3CDTF">2026-02-03T08:34:17Z</dcterms:created>
  <dcterms:modified xsi:type="dcterms:W3CDTF">2026-02-03T08:36:19Z</dcterms:modified>
</cp:coreProperties>
</file>