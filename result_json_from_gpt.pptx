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14748364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2539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492688-D57E-44A0-947C-816B3A201077}" type="datetimeFigureOut">
              <a:rPr lang="en-IN" smtClean="0"/>
              <a:t>03-02-26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B3D731-75FC-4918-AF44-078B267157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71663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4A125F-3DD5-5C01-45E1-429BB86974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8B7804-57CE-043A-3681-FD482272A7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88B771-5F77-FD8D-F444-8DE860E8A8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/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F525F9-BFCB-AAB0-6619-7B53D00DAE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1327617">
              <a:defRPr/>
            </a:pPr>
            <a:fld id="{5A57A88C-D68B-7E43-B6BD-8EAA3060908E}" type="slidenum">
              <a:rPr lang="en-US">
                <a:solidFill>
                  <a:prstClr val="black"/>
                </a:solidFill>
                <a:latin typeface="Aptos" panose="02110004020202020204"/>
              </a:rPr>
              <a:pPr defTabSz="1327617">
                <a:defRPr/>
              </a:pPr>
              <a:t>1</a:t>
            </a:fld>
            <a:endParaRPr lang="en-US">
              <a:solidFill>
                <a:prstClr val="black"/>
              </a:solidFill>
              <a:latin typeface="Aptos" panose="021100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8039924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098166-E1D3-4AD6-441C-90E7B3C275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79709A-4CFB-FBA5-018F-67D262CA36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398FD7-567C-4390-7EC5-99472EEE0B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BFE7E-E771-4879-A27D-CFD0FBB5DD02}" type="datetimeFigureOut">
              <a:rPr lang="en-IN" smtClean="0"/>
              <a:t>03-02-26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76A160-A2A0-767B-7999-1BFDA393B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A83754-FC5A-0AED-44EB-A16EB16BF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998D6-8B9C-4501-A5B6-8ADCFBD60D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39119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7B2B32-27F9-A1E8-DDF3-122DF0B8F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C235C0-9394-918F-718F-54026FE123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C0332F-1733-DB5C-0A69-43669B71E9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BFE7E-E771-4879-A27D-CFD0FBB5DD02}" type="datetimeFigureOut">
              <a:rPr lang="en-IN" smtClean="0"/>
              <a:t>03-02-26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26AC22-0B56-4185-C2F2-963F529130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906A36-E9D8-2C0D-4E08-3DBF2C6B5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998D6-8B9C-4501-A5B6-8ADCFBD60D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2007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9024C5-E25E-91FC-ADCB-6A6F95658F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3461E4-0A0A-1F58-CE8E-83FA9DE502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2866FE-A696-F63E-2448-D80E8F4BF8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BFE7E-E771-4879-A27D-CFD0FBB5DD02}" type="datetimeFigureOut">
              <a:rPr lang="en-IN" smtClean="0"/>
              <a:t>03-02-26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3DEF0D-4097-A408-444C-66B38DFDAC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7FF675-7CBB-81CC-1626-E3212F898F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998D6-8B9C-4501-A5B6-8ADCFBD60D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30797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8BFFE-72EA-0F42-7629-41A3A8059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1160A3-23A9-8FBC-C9CE-83C1FB20EF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4ACC57-D446-9A70-E932-8CD75CBC5F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1D535A-765A-8D4C-F046-BCD598940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BFE7E-E771-4879-A27D-CFD0FBB5DD02}" type="datetimeFigureOut">
              <a:rPr lang="en-IN" smtClean="0"/>
              <a:t>03-02-26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02B493-1C38-0BC0-0B5C-22B8313AE7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AE61E0-A5D8-BFC2-2B19-1A990E08B4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998D6-8B9C-4501-A5B6-8ADCFBD60D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96831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04513-AE31-353A-0556-D915BC8C2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F1D48C-0CF7-B16C-EA55-E04E1D97A5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98ABFE-FB71-9B67-1144-83598022B4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48F3D7D-063F-E4FB-E7EA-01C3CF6BD1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1FEFC9D-6783-A930-5856-D5DA346598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934A85A-2622-DF0E-7848-CBB5495FA8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BFE7E-E771-4879-A27D-CFD0FBB5DD02}" type="datetimeFigureOut">
              <a:rPr lang="en-IN" smtClean="0"/>
              <a:t>03-02-26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C9A3EDB-115C-6A42-1E24-CE27E4C836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3CA4EE6-991D-57CA-1811-EA75359A1F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998D6-8B9C-4501-A5B6-8ADCFBD60D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31953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E8696E-19A3-42D4-CE90-F3B1B13A9D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516288-F33E-B003-99D8-938F7CE34C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BFE7E-E771-4879-A27D-CFD0FBB5DD02}" type="datetimeFigureOut">
              <a:rPr lang="en-IN" smtClean="0"/>
              <a:t>03-02-26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74F0B0-2DD1-B9EE-028D-86B408E74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44A526-F8D3-6BA3-AB69-2AD0DFBCF2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998D6-8B9C-4501-A5B6-8ADCFBD60D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9446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2F6A0D-B7C6-6D1B-7CD1-DD39BAACFE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BFE7E-E771-4879-A27D-CFD0FBB5DD02}" type="datetimeFigureOut">
              <a:rPr lang="en-IN" smtClean="0"/>
              <a:t>03-02-26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78BFFB-2586-00D9-C856-E66D38D58C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E98C34-42EE-D783-EF72-A39131820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998D6-8B9C-4501-A5B6-8ADCFBD60D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26531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777A72-090D-084C-351B-ED4C87327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57C07A-930E-D84F-3E5C-F5BB67FA0B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C2B1ED-1209-84DD-DEDC-7FB8C8D4E3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92DC7E-DA3A-0ED9-265B-AB02C55382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BFE7E-E771-4879-A27D-CFD0FBB5DD02}" type="datetimeFigureOut">
              <a:rPr lang="en-IN" smtClean="0"/>
              <a:t>03-02-26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89B2EE-49C4-10ED-33C9-085A34BE54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9CC5D7-0E27-7098-5CB3-44202BC42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998D6-8B9C-4501-A5B6-8ADCFBD60D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95417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DD40D4-5D24-33E5-9259-A8F27B18D4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1208544-246D-DCB2-5A7B-3C3F2DB5E3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58FCA4-BB73-F3A6-14F2-6B660498D4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0077CF-4DCE-F38C-953C-2ACBACAC85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BFE7E-E771-4879-A27D-CFD0FBB5DD02}" type="datetimeFigureOut">
              <a:rPr lang="en-IN" smtClean="0"/>
              <a:t>03-02-26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FE8D86-4F70-54E2-AB49-D90955455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22A362-D090-E5BC-6731-8226FC9CB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998D6-8B9C-4501-A5B6-8ADCFBD60D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76806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A4CB1-9807-9B7C-9A97-9F588DEB2E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A7C596-B21A-B9F2-89D9-4A85ADEFB5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1B6D06-78ED-D051-7460-9843F24578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BFE7E-E771-4879-A27D-CFD0FBB5DD02}" type="datetimeFigureOut">
              <a:rPr lang="en-IN" smtClean="0"/>
              <a:t>03-02-26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EA074D-9E53-93FE-63B3-2518263E04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9B6CBC-02BA-22A2-FD08-4F2DF1559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998D6-8B9C-4501-A5B6-8ADCFBD60D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43965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FA749AC-CEEA-0088-A9EA-FB2DE45388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2F6D6C-2F9D-4CA5-F6CD-5EADD2A5B3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D86ABD-3D01-BD5C-1436-E9ED114421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BFE7E-E771-4879-A27D-CFD0FBB5DD02}" type="datetimeFigureOut">
              <a:rPr lang="en-IN" smtClean="0"/>
              <a:t>03-02-26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D8FC40-B273-893B-E5FD-E60B3517D5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C64500-B31B-8E94-BC09-1F9CC3909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998D6-8B9C-4501-A5B6-8ADCFBD60D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16697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29A3F10-F878-A671-32E0-3C0822EE42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" y="2227154"/>
            <a:ext cx="12192003" cy="4635933"/>
            <a:chOff x="0" y="2222067"/>
            <a:chExt cx="12192003" cy="4635933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C84B2B0D-5333-E732-68D4-4D9F64D679C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alphaModFix amt="5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-100000"/>
                      </a14:imgEffect>
                    </a14:imgLayer>
                  </a14:imgProps>
                </a:ext>
              </a:extLst>
            </a:blip>
            <a:srcRect l="7614" t="53176" r="35751"/>
            <a:stretch/>
          </p:blipFill>
          <p:spPr>
            <a:xfrm>
              <a:off x="0" y="2345011"/>
              <a:ext cx="12192000" cy="4512989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12F42D34-68F1-3A80-5D15-5F7CCBBBB2D0}"/>
                </a:ext>
              </a:extLst>
            </p:cNvPr>
            <p:cNvSpPr/>
            <p:nvPr/>
          </p:nvSpPr>
          <p:spPr bwMode="auto">
            <a:xfrm rot="5400000">
              <a:off x="5167730" y="-2945661"/>
              <a:ext cx="1856546" cy="12192001"/>
            </a:xfrm>
            <a:prstGeom prst="rect">
              <a:avLst/>
            </a:prstGeom>
            <a:gradFill flip="none" rotWithShape="1">
              <a:gsLst>
                <a:gs pos="19000">
                  <a:schemeClr val="bg1"/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6495799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784">
          <p15:clr>
            <a:srgbClr val="5ACBF0"/>
          </p15:clr>
        </p15:guide>
        <p15:guide id="29" orient="horz" pos="1101">
          <p15:clr>
            <a:srgbClr val="5ACBF0"/>
          </p15:clr>
        </p15:guide>
        <p15:guide id="30" orient="horz" pos="249">
          <p15:clr>
            <a:srgbClr val="5ACBF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5BFE88F-698B-15A3-4BE2-21834CEC72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C3F968-8728-1293-7CE3-F2A9D42BC7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34FE09-EF86-D7F6-B62C-124AB48181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FBFE7E-E771-4879-A27D-CFD0FBB5DD02}" type="datetimeFigureOut">
              <a:rPr lang="en-IN" smtClean="0"/>
              <a:t>03-02-26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716936-F845-AC6F-9D07-BE0EB9E72C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800A0A-52F6-BCE8-2DB7-21A5C1DC98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9998D6-8B9C-4501-A5B6-8ADCFBD60D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92515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slide1.xml><?xml version="1.0" encoding="utf-8"?>
<p:sld xmlns:a16="http://schemas.microsoft.com/office/drawing/2014/main" xmlns:adec="http://schemas.microsoft.com/office/drawing/2017/decorative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1703B7-9E88-8111-E4A6-03D710BDB5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EAF3D-D37C-FB34-2B0C-BF87C5F592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7826" y="253089"/>
            <a:ext cx="3800930" cy="430887"/>
          </a:xfrm>
        </p:spPr>
        <p:txBody>
          <a:bodyPr>
            <a:normAutofit fontScale="90000"/>
          </a:bodyPr>
          <a:lstStyle/>
          <a:p>
            <a:r>
              <a:rPr sz="1400" b="1"/>
              <a:t>Emerging Technology Scenario Patterns</a:t>
            </a:r>
          </a:p>
        </p:txBody>
      </p:sp>
      <p:sp>
        <p:nvSpPr>
          <p:cNvPr id="26" name="Rounded Rectangle 56">
            <a:extLst>
              <a:ext uri="{FF2B5EF4-FFF2-40B4-BE49-F238E27FC236}">
                <a16:creationId xmlns:a16="http://schemas.microsoft.com/office/drawing/2014/main" id="{F2BB1B34-ECD2-1CF6-A205-41560BECDE89}"/>
              </a:ext>
            </a:extLst>
          </p:cNvPr>
          <p:cNvSpPr/>
          <p:nvPr/>
        </p:nvSpPr>
        <p:spPr bwMode="auto">
          <a:xfrm>
            <a:off x="439355" y="847768"/>
            <a:ext cx="3630948" cy="4956910"/>
          </a:xfrm>
          <a:prstGeom prst="roundRect">
            <a:avLst>
              <a:gd name="adj" fmla="val 2239"/>
            </a:avLst>
          </a:prstGeom>
          <a:solidFill>
            <a:schemeClr val="bg1"/>
          </a:solidFill>
          <a:ln>
            <a:solidFill>
              <a:schemeClr val="bg2"/>
            </a:solidFill>
          </a:ln>
          <a:effectLst>
            <a:outerShdw blurRad="223661" dist="140295" dir="2700000" algn="tl" rotWithShape="0">
              <a:schemeClr val="accent1">
                <a:alpha val="15000"/>
              </a:scheme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32472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600">
              <a:solidFill>
                <a:srgbClr val="000000"/>
              </a:solidFill>
              <a:cs typeface="Segoe UI" pitchFamily="34" charset="0"/>
            </a:endParaRPr>
          </a:p>
        </p:txBody>
      </p:sp>
      <p:sp>
        <p:nvSpPr>
          <p:cNvPr id="29" name="Freeform 27">
            <a:extLst>
              <a:ext uri="{FF2B5EF4-FFF2-40B4-BE49-F238E27FC236}">
                <a16:creationId xmlns:a16="http://schemas.microsoft.com/office/drawing/2014/main" id="{FF775411-8843-C5F1-5DC8-749146CF6E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 rot="5400000" flipV="1">
            <a:off x="-2022364" y="3302290"/>
            <a:ext cx="4864206" cy="45720"/>
          </a:xfrm>
          <a:custGeom>
            <a:avLst/>
            <a:gdLst>
              <a:gd name="connsiteX0" fmla="*/ 3324520 w 3324520"/>
              <a:gd name="connsiteY0" fmla="*/ 54238 h 54238"/>
              <a:gd name="connsiteX1" fmla="*/ 0 w 3324520"/>
              <a:gd name="connsiteY1" fmla="*/ 54238 h 54238"/>
              <a:gd name="connsiteX2" fmla="*/ 15071 w 3324520"/>
              <a:gd name="connsiteY2" fmla="*/ 17853 h 54238"/>
              <a:gd name="connsiteX3" fmla="*/ 58173 w 3324520"/>
              <a:gd name="connsiteY3" fmla="*/ 0 h 54238"/>
              <a:gd name="connsiteX4" fmla="*/ 3266347 w 3324520"/>
              <a:gd name="connsiteY4" fmla="*/ 0 h 54238"/>
              <a:gd name="connsiteX5" fmla="*/ 3309449 w 3324520"/>
              <a:gd name="connsiteY5" fmla="*/ 17853 h 54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324520" h="54238">
                <a:moveTo>
                  <a:pt x="3324520" y="54238"/>
                </a:moveTo>
                <a:lnTo>
                  <a:pt x="0" y="54238"/>
                </a:lnTo>
                <a:lnTo>
                  <a:pt x="15071" y="17853"/>
                </a:lnTo>
                <a:cubicBezTo>
                  <a:pt x="26102" y="6823"/>
                  <a:pt x="41341" y="0"/>
                  <a:pt x="58173" y="0"/>
                </a:cubicBezTo>
                <a:lnTo>
                  <a:pt x="3266347" y="0"/>
                </a:lnTo>
                <a:cubicBezTo>
                  <a:pt x="3283179" y="0"/>
                  <a:pt x="3298418" y="6823"/>
                  <a:pt x="3309449" y="17853"/>
                </a:cubicBezTo>
                <a:close/>
              </a:path>
            </a:pathLst>
          </a:custGeom>
          <a:gradFill flip="none" rotWithShape="1">
            <a:gsLst>
              <a:gs pos="35000">
                <a:srgbClr val="0078D4"/>
              </a:gs>
              <a:gs pos="0">
                <a:srgbClr val="C03BC4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600" b="1">
              <a:ln w="3175">
                <a:noFill/>
              </a:ln>
              <a:gradFill>
                <a:gsLst>
                  <a:gs pos="76437">
                    <a:srgbClr val="FFFFFF"/>
                  </a:gs>
                  <a:gs pos="55747">
                    <a:srgbClr val="FFFFFF"/>
                  </a:gs>
                </a:gsLst>
                <a:path path="circle">
                  <a:fillToRect l="100000" b="100000"/>
                </a:path>
              </a:gradFill>
              <a:latin typeface="Segoe UI Semibold"/>
              <a:cs typeface="Segoe UI" pitchFamily="34" charset="0"/>
            </a:endParaRPr>
          </a:p>
        </p:txBody>
      </p:sp>
      <p:sp>
        <p:nvSpPr>
          <p:cNvPr id="16" name="Rectangle: Rounded Corners 15">
            <a:hlinkClick r:id="" action="ppaction://noaction"/>
            <a:extLst>
              <a:ext uri="{FF2B5EF4-FFF2-40B4-BE49-F238E27FC236}">
                <a16:creationId xmlns:a16="http://schemas.microsoft.com/office/drawing/2014/main" id="{EDA957F3-DD28-3F1B-F74B-C217FB6C8173}"/>
              </a:ext>
            </a:extLst>
          </p:cNvPr>
          <p:cNvSpPr/>
          <p:nvPr/>
        </p:nvSpPr>
        <p:spPr>
          <a:xfrm>
            <a:off x="375892" y="266095"/>
            <a:ext cx="3447952" cy="40487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28575" cap="rnd" cmpd="sng" algn="ctr">
            <a:gradFill>
              <a:gsLst>
                <a:gs pos="13000">
                  <a:srgbClr val="169DEE"/>
                </a:gs>
                <a:gs pos="0">
                  <a:srgbClr val="196CDB"/>
                </a:gs>
                <a:gs pos="27000">
                  <a:srgbClr val="37A69D"/>
                </a:gs>
                <a:gs pos="100000">
                  <a:srgbClr val="FF6A40"/>
                </a:gs>
                <a:gs pos="90000">
                  <a:srgbClr val="F98A6B"/>
                </a:gs>
                <a:gs pos="67207">
                  <a:srgbClr val="B254CB"/>
                </a:gs>
                <a:gs pos="81000">
                  <a:srgbClr val="DB55A4"/>
                </a:gs>
                <a:gs pos="68000">
                  <a:srgbClr val="AE4DD8"/>
                </a:gs>
                <a:gs pos="55000">
                  <a:srgbClr val="F2C708"/>
                </a:gs>
                <a:gs pos="40000">
                  <a:srgbClr val="A0BE3D"/>
                </a:gs>
              </a:gsLst>
              <a:lin ang="2700000" scaled="0"/>
            </a:gra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sz="1800" b="1"/>
              <a:t>Technology Landscape Overview</a:t>
            </a:r>
          </a:p>
        </p:txBody>
      </p:sp>
      <p:sp>
        <p:nvSpPr>
          <p:cNvPr id="101" name="Text Placeholder 69">
            <a:extLst>
              <a:ext uri="{FF2B5EF4-FFF2-40B4-BE49-F238E27FC236}">
                <a16:creationId xmlns:a16="http://schemas.microsoft.com/office/drawing/2014/main" id="{0FC6B37E-E8A8-B939-A841-D53AA5F26599}"/>
              </a:ext>
            </a:extLst>
          </p:cNvPr>
          <p:cNvSpPr txBox="1">
            <a:spLocks/>
          </p:cNvSpPr>
          <p:nvPr/>
        </p:nvSpPr>
        <p:spPr>
          <a:xfrm>
            <a:off x="638735" y="1006012"/>
            <a:ext cx="3276549" cy="332232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35000">
                <a:srgbClr val="0078D4"/>
              </a:gs>
              <a:gs pos="0">
                <a:srgbClr val="C03BC4"/>
              </a:gs>
            </a:gsLst>
            <a:path path="circle">
              <a:fillToRect l="100000" t="100000"/>
            </a:path>
            <a:tileRect r="-100000" b="-100000"/>
          </a:gradFill>
          <a:effectLst>
            <a:outerShdw blurRad="63500" dist="63500" dir="2700000" algn="tl" rotWithShape="0">
              <a:srgbClr val="454142">
                <a:alpha val="20000"/>
              </a:srgbClr>
            </a:outerShdw>
          </a:effectLst>
        </p:spPr>
        <p:txBody>
          <a:bodyPr vert="horz" wrap="square" lIns="0" tIns="0" rIns="0" bIns="0" rtlCol="0" anchor="ctr" anchorCtr="0">
            <a:noAutofit/>
          </a:bodyPr>
          <a:lstStyle>
            <a:lvl1pPr marL="0" marR="0" indent="0" algn="ctr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1200" b="1" i="0" kern="1200" spc="0" baseline="0">
                <a:solidFill>
                  <a:srgbClr val="FFFFFF"/>
                </a:solidFill>
                <a:latin typeface="Segoe UI Semibold" panose="020B0502040204020203" pitchFamily="34" charset="0"/>
                <a:ea typeface="+mn-ea"/>
                <a:cs typeface="Segoe UI Semibold" panose="020B05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400" b="1"/>
              <a:t>Artificial Intelligence &amp; Agentic AI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40155090-9C72-0CFC-DB0B-1EFCEB9D1052}"/>
              </a:ext>
            </a:extLst>
          </p:cNvPr>
          <p:cNvSpPr txBox="1"/>
          <p:nvPr/>
        </p:nvSpPr>
        <p:spPr>
          <a:xfrm>
            <a:off x="532238" y="1399210"/>
            <a:ext cx="3485588" cy="99257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sz="1100"/>
              <a:t>Key developments:</a:t>
            </a:r>
          </a:p>
          <a:p>
            <a:pPr lvl="0"/>
            <a:r>
              <a:rPr sz="1100"/>
              <a:t>• Agentic AI systems performing complex tasks autonomously</a:t>
            </a:r>
          </a:p>
          <a:p>
            <a:pPr lvl="0"/>
            <a:r>
              <a:rPr sz="1100"/>
              <a:t>• AI-native software development (coding, debugging, optimization)</a:t>
            </a:r>
          </a:p>
          <a:p>
            <a:pPr lvl="0"/>
            <a:r>
              <a:rPr sz="1100"/>
              <a:t>• AI accelerating scientific discovery and medical research</a:t>
            </a:r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2E78F367-90CE-2845-19FA-A9DC2BC2DF4E}"/>
              </a:ext>
            </a:extLst>
          </p:cNvPr>
          <p:cNvSpPr/>
          <p:nvPr/>
        </p:nvSpPr>
        <p:spPr bwMode="auto">
          <a:xfrm>
            <a:off x="284336" y="1011979"/>
            <a:ext cx="303283" cy="303283"/>
          </a:xfrm>
          <a:prstGeom prst="ellipse">
            <a:avLst/>
          </a:prstGeom>
          <a:gradFill flip="none" rotWithShape="1">
            <a:gsLst>
              <a:gs pos="35000">
                <a:srgbClr val="0078D4"/>
              </a:gs>
              <a:gs pos="0">
                <a:srgbClr val="C03BC4"/>
              </a:gs>
            </a:gsLst>
            <a:path path="circle">
              <a:fillToRect l="100000" t="100000"/>
            </a:path>
            <a:tileRect r="-100000" b="-100000"/>
          </a:gradFill>
          <a:effectLst>
            <a:outerShdw blurRad="63500" dist="63500" dir="2700000" algn="tl" rotWithShape="0">
              <a:srgbClr val="454142">
                <a:alpha val="20000"/>
              </a:srgbClr>
            </a:outerShdw>
          </a:effectLst>
        </p:spPr>
        <p:txBody>
          <a:bodyPr vert="horz" wrap="square" lIns="0" tIns="0" rIns="0" bIns="0" rtlCol="0" anchor="ctr" anchorCtr="0">
            <a:noAutofit/>
          </a:bodyPr>
          <a:lstStyle/>
          <a:p>
            <a:r>
              <a:rPr sz="1100"/>
              <a:t>1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439C5115-DB4C-56A4-D640-580B60768FD1}"/>
              </a:ext>
            </a:extLst>
          </p:cNvPr>
          <p:cNvSpPr txBox="1"/>
          <p:nvPr/>
        </p:nvSpPr>
        <p:spPr>
          <a:xfrm>
            <a:off x="584715" y="5242104"/>
            <a:ext cx="3485588" cy="48474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sz="1100"/>
              <a:t>Technology maturity</a:t>
            </a:r>
          </a:p>
          <a:p>
            <a:r>
              <a:rPr sz="1100"/>
              <a:t>🟢 Rapid enterprise adoption</a:t>
            </a:r>
          </a:p>
        </p:txBody>
      </p:sp>
      <p:sp>
        <p:nvSpPr>
          <p:cNvPr id="151" name="Rectangle: Rounded Corners 16">
            <a:extLst>
              <a:ext uri="{FF2B5EF4-FFF2-40B4-BE49-F238E27FC236}">
                <a16:creationId xmlns:a16="http://schemas.microsoft.com/office/drawing/2014/main" id="{9852EABA-C524-7872-23D1-DB662238F408}"/>
              </a:ext>
            </a:extLst>
          </p:cNvPr>
          <p:cNvSpPr/>
          <p:nvPr/>
        </p:nvSpPr>
        <p:spPr bwMode="auto">
          <a:xfrm>
            <a:off x="398751" y="6328961"/>
            <a:ext cx="11559581" cy="160160"/>
          </a:xfrm>
          <a:prstGeom prst="notchedRightArrow">
            <a:avLst>
              <a:gd name="adj1" fmla="val 23474"/>
              <a:gd name="adj2" fmla="val 97223"/>
            </a:avLst>
          </a:prstGeom>
          <a:gradFill flip="none" rotWithShape="1">
            <a:gsLst>
              <a:gs pos="75000">
                <a:srgbClr val="0078D4"/>
              </a:gs>
              <a:gs pos="50000">
                <a:srgbClr val="C03BC4"/>
              </a:gs>
              <a:gs pos="100000">
                <a:srgbClr val="14938C"/>
              </a:gs>
              <a:gs pos="25000">
                <a:srgbClr val="F4364C"/>
              </a:gs>
              <a:gs pos="0">
                <a:srgbClr val="FF5C39"/>
              </a:gs>
            </a:gsLst>
            <a:path path="circle">
              <a:fillToRect r="100000" b="100000"/>
            </a:path>
            <a:tileRect l="-100000" t="-100000"/>
          </a:gradFill>
          <a:ln w="635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>
            <a:outerShdw blurRad="127000" dist="63500" dir="2700000" algn="ctr" rotWithShape="0">
              <a:srgbClr val="000000">
                <a:alpha val="20000"/>
              </a:srgbClr>
            </a:outerShdw>
          </a:effectLst>
        </p:spPr>
        <p:txBody>
          <a:bodyPr rot="0" spcFirstLastPara="0" vertOverflow="overflow" horzOverflow="overflow" vert="horz" wrap="square" lIns="144000" tIns="0" rIns="14400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491019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600">
              <a:ln w="3175">
                <a:noFill/>
              </a:ln>
              <a:solidFill>
                <a:srgbClr val="FEFFFE"/>
              </a:solidFill>
              <a:latin typeface="Segoe UI Semibold"/>
            </a:endParaRPr>
          </a:p>
        </p:txBody>
      </p:sp>
      <p:sp>
        <p:nvSpPr>
          <p:cNvPr id="174" name="Rounded Rectangle 56">
            <a:extLst>
              <a:ext uri="{FF2B5EF4-FFF2-40B4-BE49-F238E27FC236}">
                <a16:creationId xmlns:a16="http://schemas.microsoft.com/office/drawing/2014/main" id="{C374EC93-F7B3-32E2-1B76-94F664A3AFD5}"/>
              </a:ext>
            </a:extLst>
          </p:cNvPr>
          <p:cNvSpPr/>
          <p:nvPr/>
        </p:nvSpPr>
        <p:spPr bwMode="auto">
          <a:xfrm>
            <a:off x="4383370" y="847768"/>
            <a:ext cx="3630948" cy="4956910"/>
          </a:xfrm>
          <a:prstGeom prst="roundRect">
            <a:avLst>
              <a:gd name="adj" fmla="val 2239"/>
            </a:avLst>
          </a:prstGeom>
          <a:solidFill>
            <a:schemeClr val="bg1"/>
          </a:solidFill>
          <a:ln>
            <a:solidFill>
              <a:schemeClr val="bg2"/>
            </a:solidFill>
          </a:ln>
          <a:effectLst>
            <a:outerShdw blurRad="223661" dist="140295" dir="2700000" algn="tl" rotWithShape="0">
              <a:schemeClr val="accent1">
                <a:alpha val="15000"/>
              </a:scheme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32472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600">
              <a:solidFill>
                <a:srgbClr val="000000"/>
              </a:solidFill>
              <a:cs typeface="Segoe UI" pitchFamily="34" charset="0"/>
            </a:endParaRPr>
          </a:p>
        </p:txBody>
      </p:sp>
      <p:sp>
        <p:nvSpPr>
          <p:cNvPr id="175" name="Freeform 27">
            <a:extLst>
              <a:ext uri="{FF2B5EF4-FFF2-40B4-BE49-F238E27FC236}">
                <a16:creationId xmlns:a16="http://schemas.microsoft.com/office/drawing/2014/main" id="{1F287248-468F-3600-9912-E4D9C0E8F5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 rot="5400000" flipV="1">
            <a:off x="1921651" y="3302290"/>
            <a:ext cx="4864206" cy="45720"/>
          </a:xfrm>
          <a:custGeom>
            <a:avLst/>
            <a:gdLst>
              <a:gd name="connsiteX0" fmla="*/ 3324520 w 3324520"/>
              <a:gd name="connsiteY0" fmla="*/ 54238 h 54238"/>
              <a:gd name="connsiteX1" fmla="*/ 0 w 3324520"/>
              <a:gd name="connsiteY1" fmla="*/ 54238 h 54238"/>
              <a:gd name="connsiteX2" fmla="*/ 15071 w 3324520"/>
              <a:gd name="connsiteY2" fmla="*/ 17853 h 54238"/>
              <a:gd name="connsiteX3" fmla="*/ 58173 w 3324520"/>
              <a:gd name="connsiteY3" fmla="*/ 0 h 54238"/>
              <a:gd name="connsiteX4" fmla="*/ 3266347 w 3324520"/>
              <a:gd name="connsiteY4" fmla="*/ 0 h 54238"/>
              <a:gd name="connsiteX5" fmla="*/ 3309449 w 3324520"/>
              <a:gd name="connsiteY5" fmla="*/ 17853 h 54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324520" h="54238">
                <a:moveTo>
                  <a:pt x="3324520" y="54238"/>
                </a:moveTo>
                <a:lnTo>
                  <a:pt x="0" y="54238"/>
                </a:lnTo>
                <a:lnTo>
                  <a:pt x="15071" y="17853"/>
                </a:lnTo>
                <a:cubicBezTo>
                  <a:pt x="26102" y="6823"/>
                  <a:pt x="41341" y="0"/>
                  <a:pt x="58173" y="0"/>
                </a:cubicBezTo>
                <a:lnTo>
                  <a:pt x="3266347" y="0"/>
                </a:lnTo>
                <a:cubicBezTo>
                  <a:pt x="3283179" y="0"/>
                  <a:pt x="3298418" y="6823"/>
                  <a:pt x="3309449" y="17853"/>
                </a:cubicBezTo>
                <a:close/>
              </a:path>
            </a:pathLst>
          </a:custGeom>
          <a:gradFill flip="none" rotWithShape="1">
            <a:gsLst>
              <a:gs pos="35000">
                <a:srgbClr val="0078D4"/>
              </a:gs>
              <a:gs pos="0">
                <a:srgbClr val="C03BC4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600" b="1">
              <a:ln w="3175">
                <a:noFill/>
              </a:ln>
              <a:gradFill>
                <a:gsLst>
                  <a:gs pos="76437">
                    <a:srgbClr val="FFFFFF"/>
                  </a:gs>
                  <a:gs pos="55747">
                    <a:srgbClr val="FFFFFF"/>
                  </a:gs>
                </a:gsLst>
                <a:path path="circle">
                  <a:fillToRect l="100000" b="100000"/>
                </a:path>
              </a:gradFill>
              <a:latin typeface="Segoe UI Semibold"/>
              <a:cs typeface="Segoe UI" pitchFamily="34" charset="0"/>
            </a:endParaRPr>
          </a:p>
        </p:txBody>
      </p:sp>
      <p:sp>
        <p:nvSpPr>
          <p:cNvPr id="179" name="Text Placeholder 69">
            <a:extLst>
              <a:ext uri="{FF2B5EF4-FFF2-40B4-BE49-F238E27FC236}">
                <a16:creationId xmlns:a16="http://schemas.microsoft.com/office/drawing/2014/main" id="{8520B68B-3F1F-D3A3-62C1-50A433A70E5C}"/>
              </a:ext>
            </a:extLst>
          </p:cNvPr>
          <p:cNvSpPr txBox="1">
            <a:spLocks/>
          </p:cNvSpPr>
          <p:nvPr/>
        </p:nvSpPr>
        <p:spPr>
          <a:xfrm>
            <a:off x="4597400" y="985959"/>
            <a:ext cx="3318933" cy="3456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35000">
                <a:srgbClr val="0078D4"/>
              </a:gs>
              <a:gs pos="0">
                <a:srgbClr val="C03BC4"/>
              </a:gs>
            </a:gsLst>
            <a:path path="circle">
              <a:fillToRect l="100000" t="100000"/>
            </a:path>
            <a:tileRect r="-100000" b="-100000"/>
          </a:gradFill>
          <a:effectLst>
            <a:outerShdw blurRad="63500" dist="63500" dir="2700000" algn="tl" rotWithShape="0">
              <a:srgbClr val="454142">
                <a:alpha val="20000"/>
              </a:srgbClr>
            </a:outerShdw>
          </a:effectLst>
        </p:spPr>
        <p:txBody>
          <a:bodyPr vert="horz" wrap="square" lIns="0" tIns="0" rIns="0" bIns="0" rtlCol="0" anchor="ctr" anchorCtr="0">
            <a:noAutofit/>
          </a:bodyPr>
          <a:lstStyle>
            <a:lvl1pPr marL="0" marR="0" indent="0" algn="ctr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1200" b="1" i="0" kern="1200" spc="0" baseline="0">
                <a:solidFill>
                  <a:srgbClr val="FFFFFF"/>
                </a:solidFill>
                <a:latin typeface="Segoe UI Semibold" panose="020B0502040204020203" pitchFamily="34" charset="0"/>
                <a:ea typeface="+mn-ea"/>
                <a:cs typeface="Segoe UI Semibold" panose="020B05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400" b="1"/>
              <a:t>Quantum Computing</a:t>
            </a: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9E0CAFB4-95A4-4CD6-1479-77764B12B191}"/>
              </a:ext>
            </a:extLst>
          </p:cNvPr>
          <p:cNvSpPr txBox="1"/>
          <p:nvPr/>
        </p:nvSpPr>
        <p:spPr>
          <a:xfrm>
            <a:off x="4476253" y="1406298"/>
            <a:ext cx="3176854" cy="82330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sz="1100"/>
              <a:t>Key developments:</a:t>
            </a:r>
          </a:p>
          <a:p>
            <a:pPr lvl="0"/>
            <a:r>
              <a:rPr sz="1100"/>
              <a:t>• Hybrid quantum–classical systems emerging</a:t>
            </a:r>
          </a:p>
          <a:p>
            <a:pPr lvl="0"/>
            <a:r>
              <a:rPr sz="1100"/>
              <a:t>• Faster processing for AI training and molecular simulations</a:t>
            </a:r>
          </a:p>
          <a:p>
            <a:pPr lvl="0"/>
            <a:r>
              <a:rPr sz="1100"/>
              <a:t>• Strong investment from governments and technology companies</a:t>
            </a:r>
          </a:p>
        </p:txBody>
      </p:sp>
      <p:sp>
        <p:nvSpPr>
          <p:cNvPr id="181" name="Oval 180">
            <a:extLst>
              <a:ext uri="{FF2B5EF4-FFF2-40B4-BE49-F238E27FC236}">
                <a16:creationId xmlns:a16="http://schemas.microsoft.com/office/drawing/2014/main" id="{978D1C92-C363-81BD-4154-E91809229CBD}"/>
              </a:ext>
            </a:extLst>
          </p:cNvPr>
          <p:cNvSpPr/>
          <p:nvPr/>
        </p:nvSpPr>
        <p:spPr bwMode="auto">
          <a:xfrm>
            <a:off x="4228351" y="1011979"/>
            <a:ext cx="303283" cy="303283"/>
          </a:xfrm>
          <a:prstGeom prst="ellipse">
            <a:avLst/>
          </a:prstGeom>
          <a:gradFill flip="none" rotWithShape="1">
            <a:gsLst>
              <a:gs pos="35000">
                <a:srgbClr val="0078D4"/>
              </a:gs>
              <a:gs pos="0">
                <a:srgbClr val="C03BC4"/>
              </a:gs>
            </a:gsLst>
            <a:path path="circle">
              <a:fillToRect l="100000" t="100000"/>
            </a:path>
            <a:tileRect r="-100000" b="-100000"/>
          </a:gradFill>
          <a:effectLst>
            <a:outerShdw blurRad="63500" dist="63500" dir="2700000" algn="tl" rotWithShape="0">
              <a:srgbClr val="454142">
                <a:alpha val="20000"/>
              </a:srgbClr>
            </a:outerShdw>
          </a:effectLst>
        </p:spPr>
        <p:txBody>
          <a:bodyPr vert="horz" wrap="square" lIns="0" tIns="0" rIns="0" bIns="0" rtlCol="0" anchor="ctr" anchorCtr="0">
            <a:noAutofit/>
          </a:bodyPr>
          <a:lstStyle/>
          <a:p>
            <a:r>
              <a:rPr sz="1100"/>
              <a:t>2</a:t>
            </a:r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BEB97750-DA2D-DC2C-2DF0-7B9868F3B759}"/>
              </a:ext>
            </a:extLst>
          </p:cNvPr>
          <p:cNvSpPr txBox="1"/>
          <p:nvPr/>
        </p:nvSpPr>
        <p:spPr>
          <a:xfrm>
            <a:off x="4470328" y="2381288"/>
            <a:ext cx="3485588" cy="150041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sz="1100"/>
              <a:t>What is this technology trend?</a:t>
            </a:r>
          </a:p>
          <a:p>
            <a:r>
              <a:rPr sz="1100"/>
              <a:t>Quantum computing uses qubits to perform calculations far beyond the capability of classical computers.</a:t>
            </a:r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DE369B39-A78F-0D13-75AC-8E2B4523D589}"/>
              </a:ext>
            </a:extLst>
          </p:cNvPr>
          <p:cNvSpPr txBox="1"/>
          <p:nvPr/>
        </p:nvSpPr>
        <p:spPr>
          <a:xfrm>
            <a:off x="4470328" y="3972348"/>
            <a:ext cx="3485588" cy="116185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sz="1100"/>
              <a:t>Potential impact:</a:t>
            </a:r>
          </a:p>
          <a:p>
            <a:pPr lvl="0"/>
            <a:r>
              <a:rPr sz="1100"/>
              <a:t>• Breakthroughs in drug discovery and material science</a:t>
            </a:r>
          </a:p>
          <a:p>
            <a:pPr lvl="0"/>
            <a:r>
              <a:rPr sz="1100"/>
              <a:t>• Solving complex optimization problems</a:t>
            </a:r>
          </a:p>
          <a:p>
            <a:pPr lvl="0"/>
            <a:r>
              <a:rPr sz="1100"/>
              <a:t>• Driving the need for post-quantum cybersecurity</a:t>
            </a:r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51C941D2-6B9A-71AE-E0E2-092DA5428A75}"/>
              </a:ext>
            </a:extLst>
          </p:cNvPr>
          <p:cNvSpPr txBox="1"/>
          <p:nvPr/>
        </p:nvSpPr>
        <p:spPr>
          <a:xfrm>
            <a:off x="4470328" y="5201437"/>
            <a:ext cx="3485588" cy="46935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sz="1100"/>
              <a:t>Technology maturity</a:t>
            </a:r>
          </a:p>
          <a:p>
            <a:r>
              <a:rPr sz="1100"/>
              <a:t>🟡 Emerging / early industry adoption</a:t>
            </a:r>
          </a:p>
        </p:txBody>
      </p:sp>
      <p:sp>
        <p:nvSpPr>
          <p:cNvPr id="185" name="Rounded Rectangle 56">
            <a:extLst>
              <a:ext uri="{FF2B5EF4-FFF2-40B4-BE49-F238E27FC236}">
                <a16:creationId xmlns:a16="http://schemas.microsoft.com/office/drawing/2014/main" id="{63C4213F-A18D-64B1-4799-7DBC067CEEDD}"/>
              </a:ext>
            </a:extLst>
          </p:cNvPr>
          <p:cNvSpPr/>
          <p:nvPr/>
        </p:nvSpPr>
        <p:spPr bwMode="auto">
          <a:xfrm>
            <a:off x="8327385" y="847768"/>
            <a:ext cx="3630948" cy="4956910"/>
          </a:xfrm>
          <a:prstGeom prst="roundRect">
            <a:avLst>
              <a:gd name="adj" fmla="val 2239"/>
            </a:avLst>
          </a:prstGeom>
          <a:solidFill>
            <a:schemeClr val="bg1"/>
          </a:solidFill>
          <a:ln>
            <a:solidFill>
              <a:schemeClr val="bg2"/>
            </a:solidFill>
          </a:ln>
          <a:effectLst>
            <a:outerShdw blurRad="223661" dist="140295" dir="2700000" algn="tl" rotWithShape="0">
              <a:schemeClr val="accent1">
                <a:alpha val="15000"/>
              </a:scheme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32472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600">
              <a:solidFill>
                <a:srgbClr val="000000"/>
              </a:solidFill>
              <a:cs typeface="Segoe UI" pitchFamily="34" charset="0"/>
            </a:endParaRPr>
          </a:p>
        </p:txBody>
      </p:sp>
      <p:sp>
        <p:nvSpPr>
          <p:cNvPr id="186" name="Freeform 27">
            <a:extLst>
              <a:ext uri="{FF2B5EF4-FFF2-40B4-BE49-F238E27FC236}">
                <a16:creationId xmlns:a16="http://schemas.microsoft.com/office/drawing/2014/main" id="{B960CC8C-5C59-5930-AE65-B141E40A66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 rot="5400000" flipV="1">
            <a:off x="5865666" y="3302290"/>
            <a:ext cx="4864206" cy="45720"/>
          </a:xfrm>
          <a:custGeom>
            <a:avLst/>
            <a:gdLst>
              <a:gd name="connsiteX0" fmla="*/ 3324520 w 3324520"/>
              <a:gd name="connsiteY0" fmla="*/ 54238 h 54238"/>
              <a:gd name="connsiteX1" fmla="*/ 0 w 3324520"/>
              <a:gd name="connsiteY1" fmla="*/ 54238 h 54238"/>
              <a:gd name="connsiteX2" fmla="*/ 15071 w 3324520"/>
              <a:gd name="connsiteY2" fmla="*/ 17853 h 54238"/>
              <a:gd name="connsiteX3" fmla="*/ 58173 w 3324520"/>
              <a:gd name="connsiteY3" fmla="*/ 0 h 54238"/>
              <a:gd name="connsiteX4" fmla="*/ 3266347 w 3324520"/>
              <a:gd name="connsiteY4" fmla="*/ 0 h 54238"/>
              <a:gd name="connsiteX5" fmla="*/ 3309449 w 3324520"/>
              <a:gd name="connsiteY5" fmla="*/ 17853 h 54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324520" h="54238">
                <a:moveTo>
                  <a:pt x="3324520" y="54238"/>
                </a:moveTo>
                <a:lnTo>
                  <a:pt x="0" y="54238"/>
                </a:lnTo>
                <a:lnTo>
                  <a:pt x="15071" y="17853"/>
                </a:lnTo>
                <a:cubicBezTo>
                  <a:pt x="26102" y="6823"/>
                  <a:pt x="41341" y="0"/>
                  <a:pt x="58173" y="0"/>
                </a:cubicBezTo>
                <a:lnTo>
                  <a:pt x="3266347" y="0"/>
                </a:lnTo>
                <a:cubicBezTo>
                  <a:pt x="3283179" y="0"/>
                  <a:pt x="3298418" y="6823"/>
                  <a:pt x="3309449" y="17853"/>
                </a:cubicBezTo>
                <a:close/>
              </a:path>
            </a:pathLst>
          </a:custGeom>
          <a:gradFill flip="none" rotWithShape="1">
            <a:gsLst>
              <a:gs pos="35000">
                <a:srgbClr val="0078D4"/>
              </a:gs>
              <a:gs pos="0">
                <a:srgbClr val="C03BC4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600" b="1">
              <a:ln w="3175">
                <a:noFill/>
              </a:ln>
              <a:gradFill>
                <a:gsLst>
                  <a:gs pos="76437">
                    <a:srgbClr val="FFFFFF"/>
                  </a:gs>
                  <a:gs pos="55747">
                    <a:srgbClr val="FFFFFF"/>
                  </a:gs>
                </a:gsLst>
                <a:path path="circle">
                  <a:fillToRect l="100000" b="100000"/>
                </a:path>
              </a:gradFill>
              <a:latin typeface="Segoe UI Semibold"/>
              <a:cs typeface="Segoe UI" pitchFamily="34" charset="0"/>
            </a:endParaRPr>
          </a:p>
        </p:txBody>
      </p:sp>
      <p:sp>
        <p:nvSpPr>
          <p:cNvPr id="190" name="Text Placeholder 69">
            <a:extLst>
              <a:ext uri="{FF2B5EF4-FFF2-40B4-BE49-F238E27FC236}">
                <a16:creationId xmlns:a16="http://schemas.microsoft.com/office/drawing/2014/main" id="{AFA17592-A1B5-1EB9-0E90-AFE80226C001}"/>
              </a:ext>
            </a:extLst>
          </p:cNvPr>
          <p:cNvSpPr txBox="1">
            <a:spLocks/>
          </p:cNvSpPr>
          <p:nvPr/>
        </p:nvSpPr>
        <p:spPr>
          <a:xfrm>
            <a:off x="8551171" y="985959"/>
            <a:ext cx="3277259" cy="3456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35000">
                <a:srgbClr val="0078D4"/>
              </a:gs>
              <a:gs pos="0">
                <a:srgbClr val="C03BC4"/>
              </a:gs>
            </a:gsLst>
            <a:path path="circle">
              <a:fillToRect l="100000" t="100000"/>
            </a:path>
            <a:tileRect r="-100000" b="-100000"/>
          </a:gradFill>
          <a:effectLst>
            <a:outerShdw blurRad="63500" dist="63500" dir="2700000" algn="tl" rotWithShape="0">
              <a:srgbClr val="454142">
                <a:alpha val="20000"/>
              </a:srgbClr>
            </a:outerShdw>
          </a:effectLst>
        </p:spPr>
        <p:txBody>
          <a:bodyPr vert="horz" wrap="square" lIns="0" tIns="0" rIns="0" bIns="0" rtlCol="0" anchor="ctr" anchorCtr="0">
            <a:noAutofit/>
          </a:bodyPr>
          <a:lstStyle>
            <a:lvl1pPr marL="0" marR="0" indent="0" algn="ctr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1200" b="1" i="0" kern="1200" spc="0" baseline="0">
                <a:solidFill>
                  <a:srgbClr val="FFFFFF"/>
                </a:solidFill>
                <a:latin typeface="Segoe UI Semibold" panose="020B0502040204020203" pitchFamily="34" charset="0"/>
                <a:ea typeface="+mn-ea"/>
                <a:cs typeface="Segoe UI Semibold" panose="020B05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400" b="1"/>
              <a:t>Biotechnology &amp; Genetic Engineering</a:t>
            </a:r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B61661F1-ABF3-228C-3DA8-5BB00EB62DB9}"/>
              </a:ext>
            </a:extLst>
          </p:cNvPr>
          <p:cNvSpPr txBox="1"/>
          <p:nvPr/>
        </p:nvSpPr>
        <p:spPr>
          <a:xfrm>
            <a:off x="8420268" y="1399210"/>
            <a:ext cx="3485588" cy="99257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sz="1100"/>
              <a:t>Major areas:</a:t>
            </a:r>
          </a:p>
          <a:p>
            <a:pPr lvl="0"/>
            <a:r>
              <a:rPr sz="1100"/>
              <a:t>• CRISPR gene editing and advanced DNA sequencing</a:t>
            </a:r>
          </a:p>
          <a:p>
            <a:pPr lvl="0"/>
            <a:r>
              <a:rPr sz="1100"/>
              <a:t>• Synthetic biology creating new medicines and bio-materials</a:t>
            </a:r>
          </a:p>
          <a:p>
            <a:pPr lvl="0"/>
            <a:r>
              <a:rPr sz="1100"/>
              <a:t>• AI-driven drug discovery and research</a:t>
            </a:r>
          </a:p>
        </p:txBody>
      </p:sp>
      <p:sp>
        <p:nvSpPr>
          <p:cNvPr id="192" name="Oval 191">
            <a:extLst>
              <a:ext uri="{FF2B5EF4-FFF2-40B4-BE49-F238E27FC236}">
                <a16:creationId xmlns:a16="http://schemas.microsoft.com/office/drawing/2014/main" id="{7674D4D4-AA0A-4BB4-2143-D70EC0E71310}"/>
              </a:ext>
            </a:extLst>
          </p:cNvPr>
          <p:cNvSpPr/>
          <p:nvPr/>
        </p:nvSpPr>
        <p:spPr bwMode="auto">
          <a:xfrm>
            <a:off x="8172366" y="1011979"/>
            <a:ext cx="303283" cy="303283"/>
          </a:xfrm>
          <a:prstGeom prst="ellipse">
            <a:avLst/>
          </a:prstGeom>
          <a:gradFill flip="none" rotWithShape="1">
            <a:gsLst>
              <a:gs pos="35000">
                <a:srgbClr val="0078D4"/>
              </a:gs>
              <a:gs pos="0">
                <a:srgbClr val="C03BC4"/>
              </a:gs>
            </a:gsLst>
            <a:path path="circle">
              <a:fillToRect l="100000" t="100000"/>
            </a:path>
            <a:tileRect r="-100000" b="-100000"/>
          </a:gradFill>
          <a:effectLst>
            <a:outerShdw blurRad="63500" dist="63500" dir="2700000" algn="tl" rotWithShape="0">
              <a:srgbClr val="454142">
                <a:alpha val="20000"/>
              </a:srgbClr>
            </a:outerShdw>
          </a:effectLst>
        </p:spPr>
        <p:txBody>
          <a:bodyPr vert="horz" wrap="square" lIns="0" tIns="0" rIns="0" bIns="0" rtlCol="0" anchor="ctr" anchorCtr="0">
            <a:noAutofit/>
          </a:bodyPr>
          <a:lstStyle/>
          <a:p>
            <a:r>
              <a:rPr sz="1100"/>
              <a:t>3</a:t>
            </a: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0C102294-BCB1-47CE-2253-E283557FEFD0}"/>
              </a:ext>
            </a:extLst>
          </p:cNvPr>
          <p:cNvSpPr txBox="1"/>
          <p:nvPr/>
        </p:nvSpPr>
        <p:spPr>
          <a:xfrm>
            <a:off x="8421270" y="2425797"/>
            <a:ext cx="3537062" cy="166968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sz="1100"/>
              <a:t>What is this technology trend?</a:t>
            </a:r>
          </a:p>
          <a:p>
            <a:r>
              <a:rPr sz="1100"/>
              <a:t>Biotechnology is advancing rapidly through tools that can modify and engineer living systems for medical and industrial applications.</a:t>
            </a:r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1E530A0A-3535-DD7A-5BE8-19D01F792280}"/>
              </a:ext>
            </a:extLst>
          </p:cNvPr>
          <p:cNvSpPr txBox="1"/>
          <p:nvPr/>
        </p:nvSpPr>
        <p:spPr>
          <a:xfrm>
            <a:off x="8414344" y="4123480"/>
            <a:ext cx="3537061" cy="99257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sz="1100"/>
              <a:t>Impact:</a:t>
            </a:r>
          </a:p>
          <a:p>
            <a:pPr lvl="0"/>
            <a:r>
              <a:rPr sz="1100"/>
              <a:t>• Faster vaccine and treatment development</a:t>
            </a:r>
          </a:p>
          <a:p>
            <a:pPr lvl="0"/>
            <a:r>
              <a:rPr sz="1100"/>
              <a:t>• Potential cures for genetic diseases</a:t>
            </a:r>
          </a:p>
          <a:p>
            <a:pPr lvl="0"/>
            <a:r>
              <a:rPr sz="1100"/>
              <a:t>• Personalized healthcare based on DNA</a:t>
            </a:r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017DBE3B-3A4E-0AF2-1F57-23C6CE0EB852}"/>
              </a:ext>
            </a:extLst>
          </p:cNvPr>
          <p:cNvSpPr txBox="1"/>
          <p:nvPr/>
        </p:nvSpPr>
        <p:spPr>
          <a:xfrm>
            <a:off x="8414343" y="5161972"/>
            <a:ext cx="3485588" cy="48474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sz="1100"/>
              <a:t>Technology maturity</a:t>
            </a:r>
          </a:p>
          <a:p>
            <a:r>
              <a:rPr sz="1100"/>
              <a:t>🟠 Rapid innovation phase</a:t>
            </a:r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id="{1B57DC01-05BC-E315-3552-5CEC303D5F29}"/>
              </a:ext>
            </a:extLst>
          </p:cNvPr>
          <p:cNvSpPr txBox="1"/>
          <p:nvPr/>
        </p:nvSpPr>
        <p:spPr>
          <a:xfrm>
            <a:off x="5297152" y="6087606"/>
            <a:ext cx="197061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spcAft>
                <a:spcPts val="300"/>
              </a:spcAft>
              <a:defRPr sz="1200">
                <a:gradFill>
                  <a:gsLst>
                    <a:gs pos="35000">
                      <a:srgbClr val="0078D4"/>
                    </a:gs>
                    <a:gs pos="0">
                      <a:srgbClr val="C03BC4"/>
                    </a:gs>
                  </a:gsLst>
                  <a:path path="circle">
                    <a:fillToRect l="100000" t="100000"/>
                  </a:path>
                </a:gradFill>
                <a:latin typeface="Segoe UI Semibold"/>
                <a:cs typeface="Segoe UI Semibold" panose="020B0702040204020203" pitchFamily="34" charset="0"/>
              </a:defRPr>
            </a:lvl1pPr>
          </a:lstStyle>
          <a:p>
            <a:r>
              <a:rPr sz="1100"/>
              <a:t>Technology Complexity</a:t>
            </a:r>
          </a:p>
        </p:txBody>
      </p:sp>
      <p:sp>
        <p:nvSpPr>
          <p:cNvPr id="199" name="TextBox 198">
            <a:extLst>
              <a:ext uri="{FF2B5EF4-FFF2-40B4-BE49-F238E27FC236}">
                <a16:creationId xmlns:a16="http://schemas.microsoft.com/office/drawing/2014/main" id="{F2618040-7B37-5EFD-D92E-8B005B76FB69}"/>
              </a:ext>
            </a:extLst>
          </p:cNvPr>
          <p:cNvSpPr txBox="1"/>
          <p:nvPr/>
        </p:nvSpPr>
        <p:spPr>
          <a:xfrm>
            <a:off x="5297152" y="6455254"/>
            <a:ext cx="197061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spcAft>
                <a:spcPts val="300"/>
              </a:spcAft>
              <a:defRPr sz="1200">
                <a:gradFill>
                  <a:gsLst>
                    <a:gs pos="35000">
                      <a:srgbClr val="0078D4"/>
                    </a:gs>
                    <a:gs pos="0">
                      <a:srgbClr val="C03BC4"/>
                    </a:gs>
                  </a:gsLst>
                  <a:path path="circle">
                    <a:fillToRect l="100000" t="100000"/>
                  </a:path>
                </a:gradFill>
                <a:latin typeface="Segoe UI Semibold"/>
                <a:cs typeface="Segoe UI Semibold" panose="020B0702040204020203" pitchFamily="34" charset="0"/>
              </a:defRPr>
            </a:lvl1pPr>
          </a:lstStyle>
          <a:p>
            <a:r>
              <a:rPr sz="1100"/>
              <a:t>Societal &amp; Industry Impact</a:t>
            </a:r>
          </a:p>
        </p:txBody>
      </p:sp>
      <p:sp>
        <p:nvSpPr>
          <p:cNvPr id="203" name="TextBox 202">
            <a:extLst>
              <a:ext uri="{FF2B5EF4-FFF2-40B4-BE49-F238E27FC236}">
                <a16:creationId xmlns:a16="http://schemas.microsoft.com/office/drawing/2014/main" id="{43D4A32D-C83A-6713-6592-F303BBA33437}"/>
              </a:ext>
            </a:extLst>
          </p:cNvPr>
          <p:cNvSpPr txBox="1"/>
          <p:nvPr/>
        </p:nvSpPr>
        <p:spPr>
          <a:xfrm>
            <a:off x="526313" y="6067500"/>
            <a:ext cx="46919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/>
              <a:t>Lower</a:t>
            </a:r>
          </a:p>
        </p:txBody>
      </p:sp>
      <p:sp>
        <p:nvSpPr>
          <p:cNvPr id="204" name="TextBox 203">
            <a:extLst>
              <a:ext uri="{FF2B5EF4-FFF2-40B4-BE49-F238E27FC236}">
                <a16:creationId xmlns:a16="http://schemas.microsoft.com/office/drawing/2014/main" id="{EB1CF7D5-983E-FB7C-9543-9D8458B3B2AD}"/>
              </a:ext>
            </a:extLst>
          </p:cNvPr>
          <p:cNvSpPr txBox="1"/>
          <p:nvPr/>
        </p:nvSpPr>
        <p:spPr>
          <a:xfrm>
            <a:off x="526313" y="6447354"/>
            <a:ext cx="58773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200" i="1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sz="1100"/>
              <a:t>Foundational</a:t>
            </a:r>
          </a:p>
        </p:txBody>
      </p:sp>
      <p:sp>
        <p:nvSpPr>
          <p:cNvPr id="205" name="TextBox 204">
            <a:extLst>
              <a:ext uri="{FF2B5EF4-FFF2-40B4-BE49-F238E27FC236}">
                <a16:creationId xmlns:a16="http://schemas.microsoft.com/office/drawing/2014/main" id="{F0878797-5BD3-98F6-92AF-FBDC9BDABCE3}"/>
              </a:ext>
            </a:extLst>
          </p:cNvPr>
          <p:cNvSpPr txBox="1"/>
          <p:nvPr/>
        </p:nvSpPr>
        <p:spPr>
          <a:xfrm>
            <a:off x="11077956" y="6067500"/>
            <a:ext cx="58773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/>
              <a:t>Advanced</a:t>
            </a:r>
          </a:p>
        </p:txBody>
      </p:sp>
      <p:sp>
        <p:nvSpPr>
          <p:cNvPr id="206" name="TextBox 205">
            <a:extLst>
              <a:ext uri="{FF2B5EF4-FFF2-40B4-BE49-F238E27FC236}">
                <a16:creationId xmlns:a16="http://schemas.microsoft.com/office/drawing/2014/main" id="{EB727388-C539-DEB3-5750-20CFE270358B}"/>
              </a:ext>
            </a:extLst>
          </p:cNvPr>
          <p:cNvSpPr txBox="1"/>
          <p:nvPr/>
        </p:nvSpPr>
        <p:spPr>
          <a:xfrm>
            <a:off x="10003623" y="6447354"/>
            <a:ext cx="166206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r">
              <a:defRPr sz="1200" i="1">
                <a:solidFill>
                  <a:srgbClr val="00B050"/>
                </a:solidFill>
              </a:defRPr>
            </a:lvl1pPr>
          </a:lstStyle>
          <a:p>
            <a:r>
              <a:rPr sz="1100"/>
              <a:t>Transformative</a:t>
            </a:r>
          </a:p>
        </p:txBody>
      </p:sp>
      <p:sp>
        <p:nvSpPr>
          <p:cNvPr id="209" name="TextBox 208">
            <a:extLst>
              <a:ext uri="{FF2B5EF4-FFF2-40B4-BE49-F238E27FC236}">
                <a16:creationId xmlns:a16="http://schemas.microsoft.com/office/drawing/2014/main" id="{4ACCB3A9-E01C-F11A-964D-637BBBF0516C}"/>
              </a:ext>
            </a:extLst>
          </p:cNvPr>
          <p:cNvSpPr txBox="1"/>
          <p:nvPr/>
        </p:nvSpPr>
        <p:spPr>
          <a:xfrm>
            <a:off x="1581663" y="6087606"/>
            <a:ext cx="1354323" cy="21544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>
              <a:defRPr/>
            </a:pPr>
            <a:r>
              <a:rPr lang="en-US" sz="1400" b="1">
                <a:solidFill>
                  <a:schemeClr val="bg1">
                    <a:lumMod val="85000"/>
                  </a:schemeClr>
                </a:solidFill>
                <a:latin typeface="Segoe Sans Display Semibold"/>
                <a:cs typeface="Segoe UI Semibold" panose="020B0702040204020203" pitchFamily="34" charset="0"/>
                <a:sym typeface="Wingdings" panose="05000000000000000000" pitchFamily="2" charset="2"/>
              </a:rPr>
              <a:t>&gt;&gt;&gt;&gt;&gt;&gt;</a:t>
            </a:r>
            <a:endParaRPr lang="en-US" sz="1400" b="1">
              <a:solidFill>
                <a:schemeClr val="bg1">
                  <a:lumMod val="85000"/>
                </a:schemeClr>
              </a:solidFill>
              <a:latin typeface="Segoe Sans Display Semibold"/>
              <a:cs typeface="Segoe UI Semibold" panose="020B0702040204020203" pitchFamily="34" charset="0"/>
            </a:endParaRPr>
          </a:p>
        </p:txBody>
      </p:sp>
      <p:sp>
        <p:nvSpPr>
          <p:cNvPr id="210" name="TextBox 209">
            <a:extLst>
              <a:ext uri="{FF2B5EF4-FFF2-40B4-BE49-F238E27FC236}">
                <a16:creationId xmlns:a16="http://schemas.microsoft.com/office/drawing/2014/main" id="{76AF9758-5DF0-59AE-6699-32AA614CEA13}"/>
              </a:ext>
            </a:extLst>
          </p:cNvPr>
          <p:cNvSpPr txBox="1"/>
          <p:nvPr/>
        </p:nvSpPr>
        <p:spPr>
          <a:xfrm>
            <a:off x="2888797" y="6087606"/>
            <a:ext cx="1354323" cy="21544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>
              <a:defRPr/>
            </a:pPr>
            <a:r>
              <a:rPr lang="en-US" sz="1400" b="1">
                <a:solidFill>
                  <a:schemeClr val="bg1">
                    <a:lumMod val="85000"/>
                  </a:schemeClr>
                </a:solidFill>
                <a:latin typeface="Segoe Sans Display Semibold"/>
                <a:cs typeface="Segoe UI Semibold" panose="020B0702040204020203" pitchFamily="34" charset="0"/>
                <a:sym typeface="Wingdings" panose="05000000000000000000" pitchFamily="2" charset="2"/>
              </a:rPr>
              <a:t>&gt;&gt;&gt;&gt;&gt;&gt;</a:t>
            </a:r>
            <a:endParaRPr lang="en-US" sz="1400" b="1">
              <a:solidFill>
                <a:schemeClr val="bg1">
                  <a:lumMod val="85000"/>
                </a:schemeClr>
              </a:solidFill>
              <a:latin typeface="Segoe Sans Display Semibold"/>
              <a:cs typeface="Segoe UI Semibold" panose="020B0702040204020203" pitchFamily="34" charset="0"/>
            </a:endParaRPr>
          </a:p>
        </p:txBody>
      </p:sp>
      <p:sp>
        <p:nvSpPr>
          <p:cNvPr id="211" name="TextBox 210">
            <a:extLst>
              <a:ext uri="{FF2B5EF4-FFF2-40B4-BE49-F238E27FC236}">
                <a16:creationId xmlns:a16="http://schemas.microsoft.com/office/drawing/2014/main" id="{ECF3EC58-2AEF-FCD6-E9F3-7EDB3E6FB764}"/>
              </a:ext>
            </a:extLst>
          </p:cNvPr>
          <p:cNvSpPr txBox="1"/>
          <p:nvPr/>
        </p:nvSpPr>
        <p:spPr>
          <a:xfrm>
            <a:off x="4330894" y="6087606"/>
            <a:ext cx="1354323" cy="21544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>
              <a:defRPr/>
            </a:pPr>
            <a:r>
              <a:rPr lang="en-US" sz="1400" b="1">
                <a:solidFill>
                  <a:schemeClr val="bg1">
                    <a:lumMod val="85000"/>
                  </a:schemeClr>
                </a:solidFill>
                <a:latin typeface="Segoe Sans Display Semibold"/>
                <a:cs typeface="Segoe UI Semibold" panose="020B0702040204020203" pitchFamily="34" charset="0"/>
                <a:sym typeface="Wingdings" panose="05000000000000000000" pitchFamily="2" charset="2"/>
              </a:rPr>
              <a:t>&gt;&gt;&gt;&gt;&gt;&gt;</a:t>
            </a:r>
            <a:endParaRPr lang="en-US" sz="1400" b="1">
              <a:solidFill>
                <a:schemeClr val="bg1">
                  <a:lumMod val="85000"/>
                </a:schemeClr>
              </a:solidFill>
              <a:latin typeface="Segoe Sans Display Semibold"/>
              <a:cs typeface="Segoe UI Semibold" panose="020B0702040204020203" pitchFamily="34" charset="0"/>
            </a:endParaRPr>
          </a:p>
        </p:txBody>
      </p:sp>
      <p:sp>
        <p:nvSpPr>
          <p:cNvPr id="212" name="TextBox 211">
            <a:extLst>
              <a:ext uri="{FF2B5EF4-FFF2-40B4-BE49-F238E27FC236}">
                <a16:creationId xmlns:a16="http://schemas.microsoft.com/office/drawing/2014/main" id="{D4C65471-5BBA-E0A7-ED68-F6C6F398E460}"/>
              </a:ext>
            </a:extLst>
          </p:cNvPr>
          <p:cNvSpPr txBox="1"/>
          <p:nvPr/>
        </p:nvSpPr>
        <p:spPr>
          <a:xfrm>
            <a:off x="7653107" y="6087606"/>
            <a:ext cx="1354323" cy="21544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>
              <a:defRPr/>
            </a:pPr>
            <a:r>
              <a:rPr lang="en-US" sz="1400" b="1">
                <a:solidFill>
                  <a:schemeClr val="bg1">
                    <a:lumMod val="85000"/>
                  </a:schemeClr>
                </a:solidFill>
                <a:latin typeface="Segoe Sans Display Semibold"/>
                <a:cs typeface="Segoe UI Semibold" panose="020B0702040204020203" pitchFamily="34" charset="0"/>
                <a:sym typeface="Wingdings" panose="05000000000000000000" pitchFamily="2" charset="2"/>
              </a:rPr>
              <a:t>&gt;&gt;&gt;&gt;&gt;&gt;&gt;&gt;&gt;&gt;&gt;</a:t>
            </a:r>
            <a:endParaRPr lang="en-US" sz="1400" b="1">
              <a:solidFill>
                <a:schemeClr val="bg1">
                  <a:lumMod val="85000"/>
                </a:schemeClr>
              </a:solidFill>
              <a:latin typeface="Segoe Sans Display Semibold"/>
              <a:cs typeface="Segoe UI Semibold" panose="020B0702040204020203" pitchFamily="34" charset="0"/>
            </a:endParaRPr>
          </a:p>
        </p:txBody>
      </p:sp>
      <p:sp>
        <p:nvSpPr>
          <p:cNvPr id="213" name="TextBox 212">
            <a:extLst>
              <a:ext uri="{FF2B5EF4-FFF2-40B4-BE49-F238E27FC236}">
                <a16:creationId xmlns:a16="http://schemas.microsoft.com/office/drawing/2014/main" id="{62C17763-C234-32E2-9BCC-76707062352E}"/>
              </a:ext>
            </a:extLst>
          </p:cNvPr>
          <p:cNvSpPr txBox="1"/>
          <p:nvPr/>
        </p:nvSpPr>
        <p:spPr>
          <a:xfrm>
            <a:off x="2962372" y="6494284"/>
            <a:ext cx="1354323" cy="21544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>
              <a:defRPr/>
            </a:pPr>
            <a:r>
              <a:rPr lang="en-US" sz="1400" b="1">
                <a:solidFill>
                  <a:schemeClr val="bg1">
                    <a:lumMod val="85000"/>
                  </a:schemeClr>
                </a:solidFill>
                <a:latin typeface="Segoe Sans Display Semibold"/>
                <a:cs typeface="Segoe UI Semibold" panose="020B0702040204020203" pitchFamily="34" charset="0"/>
                <a:sym typeface="Wingdings" panose="05000000000000000000" pitchFamily="2" charset="2"/>
              </a:rPr>
              <a:t>&gt;&gt;&gt;&gt;&gt;&gt;</a:t>
            </a:r>
            <a:endParaRPr lang="en-US" sz="1400" b="1">
              <a:solidFill>
                <a:schemeClr val="bg1">
                  <a:lumMod val="85000"/>
                </a:schemeClr>
              </a:solidFill>
              <a:latin typeface="Segoe Sans Display Semibold"/>
              <a:cs typeface="Segoe UI Semibold" panose="020B0702040204020203" pitchFamily="34" charset="0"/>
            </a:endParaRPr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76A614C3-7650-58A4-E9DD-8DCA8A9489A0}"/>
              </a:ext>
            </a:extLst>
          </p:cNvPr>
          <p:cNvSpPr txBox="1"/>
          <p:nvPr/>
        </p:nvSpPr>
        <p:spPr>
          <a:xfrm>
            <a:off x="4269506" y="6494284"/>
            <a:ext cx="1354323" cy="21544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>
              <a:defRPr/>
            </a:pPr>
            <a:r>
              <a:rPr lang="en-US" sz="1400" b="1">
                <a:solidFill>
                  <a:schemeClr val="bg1">
                    <a:lumMod val="85000"/>
                  </a:schemeClr>
                </a:solidFill>
                <a:latin typeface="Segoe Sans Display Semibold"/>
                <a:cs typeface="Segoe UI Semibold" panose="020B0702040204020203" pitchFamily="34" charset="0"/>
                <a:sym typeface="Wingdings" panose="05000000000000000000" pitchFamily="2" charset="2"/>
              </a:rPr>
              <a:t>&gt;&gt;&gt;&gt;&gt;&gt;</a:t>
            </a:r>
            <a:endParaRPr lang="en-US" sz="1400" b="1">
              <a:solidFill>
                <a:schemeClr val="bg1">
                  <a:lumMod val="85000"/>
                </a:schemeClr>
              </a:solidFill>
              <a:latin typeface="Segoe Sans Display Semibold"/>
              <a:cs typeface="Segoe UI Semibold" panose="020B0702040204020203" pitchFamily="34" charset="0"/>
            </a:endParaRPr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C438D51E-B883-655F-B9B8-C6654D5C371E}"/>
              </a:ext>
            </a:extLst>
          </p:cNvPr>
          <p:cNvSpPr txBox="1"/>
          <p:nvPr/>
        </p:nvSpPr>
        <p:spPr>
          <a:xfrm>
            <a:off x="7167033" y="6494284"/>
            <a:ext cx="1490134" cy="21544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>
              <a:defRPr/>
            </a:pPr>
            <a:r>
              <a:rPr lang="en-US" sz="1400" b="1">
                <a:solidFill>
                  <a:schemeClr val="bg1">
                    <a:lumMod val="85000"/>
                  </a:schemeClr>
                </a:solidFill>
                <a:latin typeface="Segoe Sans Display Semibold"/>
                <a:cs typeface="Segoe UI Semibold" panose="020B0702040204020203" pitchFamily="34" charset="0"/>
                <a:sym typeface="Wingdings" panose="05000000000000000000" pitchFamily="2" charset="2"/>
              </a:rPr>
              <a:t>&gt;&gt;&gt;&gt;&gt;&gt;</a:t>
            </a:r>
            <a:endParaRPr lang="en-US" sz="1400" b="1">
              <a:solidFill>
                <a:schemeClr val="bg1">
                  <a:lumMod val="85000"/>
                </a:schemeClr>
              </a:solidFill>
              <a:latin typeface="Segoe Sans Display Semibold"/>
              <a:cs typeface="Segoe UI Semibold" panose="020B0702040204020203" pitchFamily="34" charset="0"/>
            </a:endParaRPr>
          </a:p>
        </p:txBody>
      </p:sp>
      <p:sp>
        <p:nvSpPr>
          <p:cNvPr id="216" name="TextBox 215">
            <a:extLst>
              <a:ext uri="{FF2B5EF4-FFF2-40B4-BE49-F238E27FC236}">
                <a16:creationId xmlns:a16="http://schemas.microsoft.com/office/drawing/2014/main" id="{41726ED1-81C5-A13A-4246-68F829244961}"/>
              </a:ext>
            </a:extLst>
          </p:cNvPr>
          <p:cNvSpPr txBox="1"/>
          <p:nvPr/>
        </p:nvSpPr>
        <p:spPr>
          <a:xfrm>
            <a:off x="9033816" y="6494284"/>
            <a:ext cx="1354323" cy="21544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>
              <a:defRPr/>
            </a:pPr>
            <a:r>
              <a:rPr lang="en-US" sz="1400" b="1">
                <a:solidFill>
                  <a:schemeClr val="bg1">
                    <a:lumMod val="85000"/>
                  </a:schemeClr>
                </a:solidFill>
                <a:latin typeface="Segoe Sans Display Semibold"/>
                <a:cs typeface="Segoe UI Semibold" panose="020B0702040204020203" pitchFamily="34" charset="0"/>
                <a:sym typeface="Wingdings" panose="05000000000000000000" pitchFamily="2" charset="2"/>
              </a:rPr>
              <a:t>&gt;&gt;&gt;&gt;&gt;&gt;&gt;&gt;&gt;&gt;&gt;</a:t>
            </a:r>
            <a:endParaRPr lang="en-US" sz="1400" b="1">
              <a:solidFill>
                <a:schemeClr val="bg1">
                  <a:lumMod val="85000"/>
                </a:schemeClr>
              </a:solidFill>
              <a:latin typeface="Segoe Sans Display Semibold"/>
              <a:cs typeface="Segoe UI Semibold" panose="020B07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EF99209-1503-FEE7-46B1-C2EE948954D0}"/>
              </a:ext>
            </a:extLst>
          </p:cNvPr>
          <p:cNvSpPr txBox="1"/>
          <p:nvPr/>
        </p:nvSpPr>
        <p:spPr>
          <a:xfrm>
            <a:off x="560949" y="2460191"/>
            <a:ext cx="3485588" cy="133113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sz="1100"/>
              <a:t>What is this technology trend?</a:t>
            </a:r>
          </a:p>
          <a:p>
            <a:r>
              <a:rPr sz="1100"/>
              <a:t>AI is evolving from simple tools to autonomous systems capable of planning, decision-making, and action with minimal human intervention.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A683B5E-E4AC-5AD1-B43B-8CA2D70B1FD1}"/>
              </a:ext>
            </a:extLst>
          </p:cNvPr>
          <p:cNvSpPr txBox="1"/>
          <p:nvPr/>
        </p:nvSpPr>
        <p:spPr>
          <a:xfrm>
            <a:off x="533240" y="3853027"/>
            <a:ext cx="3485588" cy="116185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sz="1100"/>
              <a:t>Why it matters:</a:t>
            </a:r>
          </a:p>
          <a:p>
            <a:pPr lvl="0"/>
            <a:r>
              <a:rPr sz="1100"/>
              <a:t>• Automates knowledge work and increases productivity</a:t>
            </a:r>
          </a:p>
          <a:p>
            <a:pPr lvl="0"/>
            <a:r>
              <a:rPr sz="1100"/>
              <a:t>• Drives innovation across healthcare, finance, and manufacturing</a:t>
            </a:r>
          </a:p>
          <a:p>
            <a:pPr lvl="0"/>
            <a:r>
              <a:rPr sz="1100"/>
              <a:t>• Becoming a foundational technology for organizations</a:t>
            </a:r>
          </a:p>
        </p:txBody>
      </p:sp>
    </p:spTree>
    <p:extLst>
      <p:ext uri="{BB962C8B-B14F-4D97-AF65-F5344CB8AC3E}">
        <p14:creationId xmlns:p14="http://schemas.microsoft.com/office/powerpoint/2010/main" val="1109255806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467</Words>
  <Application>Microsoft Office PowerPoint</Application>
  <PresentationFormat>Widescreen</PresentationFormat>
  <Paragraphs>61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Aptos</vt:lpstr>
      <vt:lpstr>Aptos Display</vt:lpstr>
      <vt:lpstr>Arial</vt:lpstr>
      <vt:lpstr>Segoe Sans Display Semibold</vt:lpstr>
      <vt:lpstr>Segoe UI</vt:lpstr>
      <vt:lpstr>Segoe UI Semibold</vt:lpstr>
      <vt:lpstr>Office Theme</vt:lpstr>
      <vt:lpstr>Key Scenario Patterns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Raghav Khanna</dc:creator>
  <cp:lastModifiedBy>Raghav Khanna</cp:lastModifiedBy>
  <cp:revision>1</cp:revision>
  <dcterms:created xsi:type="dcterms:W3CDTF">2026-02-03T08:34:17Z</dcterms:created>
  <dcterms:modified xsi:type="dcterms:W3CDTF">2026-02-03T08:36:19Z</dcterms:modified>
</cp:coreProperties>
</file>